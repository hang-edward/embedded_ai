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notesMasterIdLst>
    <p:notesMasterId r:id="rId8"/>
  </p:notesMaster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customXml" Target="../customXml/item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&lt;!--pageType:cover--&gt;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&lt;!--pageType:table_of_contents--&gt;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&lt;!--pageType:chapter--&gt;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&lt;!--pageType:chapter--&gt;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&lt;!--pageType:chapter--&gt;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&lt;!--pageType:chapter--&gt;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&lt;!--pageType:final--&gt;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dsl:bg-img" descr="C:\Users\Lenovo\Documents\kimi\workspace\ai_reality_bridge\images\nucleo-prototype.png"/>
          <p:cNvPicPr>
            <a:picLocks noChangeAspect="1"/>
          </p:cNvPicPr>
          <p:nvPr/>
        </p:nvPicPr>
        <p:blipFill>
          <a:blip r:embed="rId2"/>
          <a:srcRect l="1960" r="196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3" name="dsl:mask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B2A4A">
                  <a:alpha val="0"/>
                </a:srgbClr>
              </a:gs>
              <a:gs pos="40000">
                <a:srgbClr val="1B2A4A">
                  <a:alpha val="50196"/>
                </a:srgbClr>
              </a:gs>
              <a:gs pos="100000">
                <a:srgbClr val="1B2A4A">
                  <a:alpha val="90196"/>
                </a:srgbClr>
              </a:gs>
            </a:gsLst>
            <a:lin scaled="0" ang="5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title|s=$hero"/>
          <p:cNvSpPr txBox="1"/>
          <p:nvPr/>
        </p:nvSpPr>
        <p:spPr>
          <a:xfrm>
            <a:off x="952500" y="2286000"/>
            <a:ext cx="10287000" cy="571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3000" noProof="1">
                <a:solidFill>
                  <a:srgbClr val="FFFFFF"/>
                </a:solidFill>
                <a:latin typeface="Arial"/>
                <a:ea typeface="MiSans"/>
              </a:rPr>
              <a:t>AI Reality Bridge</a:t>
            </a:r>
          </a:p>
        </p:txBody>
      </p:sp>
      <p:sp>
        <p:nvSpPr>
          <p:cNvPr id="5" name="dsl:subtitle-cn|s=$subtitle"/>
          <p:cNvSpPr txBox="1"/>
          <p:nvPr/>
        </p:nvSpPr>
        <p:spPr>
          <a:xfrm>
            <a:off x="952500" y="3048000"/>
            <a:ext cx="10287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40000"/>
              </a:lnSpc>
            </a:pPr>
            <a:r>
              <a:rPr sz="1500" noProof="1">
                <a:solidFill>
                  <a:srgbClr val="FFFFFF"/>
                </a:solidFill>
                <a:latin typeface="Arial"/>
                <a:ea typeface="MiSans"/>
              </a:rPr>
              <a:t>AI Reality Perception &amp; Feedback System Based on C++ and STM32</a:t>
            </a:r>
          </a:p>
        </p:txBody>
      </p:sp>
      <p:sp>
        <p:nvSpPr>
          <p:cNvPr id="6" name="dsl:subtitle-en"/>
          <p:cNvSpPr txBox="1"/>
          <p:nvPr/>
        </p:nvSpPr>
        <p:spPr>
          <a:xfrm>
            <a:off x="952500" y="3524250"/>
            <a:ext cx="10287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200" noProof="1">
                <a:solidFill>
                  <a:srgbClr val="FFFFFF">
                    <a:alpha val="70196"/>
                  </a:srgbClr>
                </a:solidFill>
                <a:latin typeface="Arial"/>
                <a:ea typeface="MiSans"/>
              </a:rPr>
              <a:t>C++ Course Project Final Defense</a:t>
            </a:r>
          </a:p>
        </p:txBody>
      </p:sp>
      <p:sp>
        <p:nvSpPr>
          <p:cNvPr id="7" name="dsl:accent-line"/>
          <p:cNvSpPr/>
          <p:nvPr/>
        </p:nvSpPr>
        <p:spPr>
          <a:xfrm>
            <a:off x="5143500" y="4000500"/>
            <a:ext cx="1905000" cy="28575"/>
          </a:xfrm>
          <a:prstGeom prst="rect">
            <a:avLst/>
          </a:prstGeom>
          <a:solidFill>
            <a:srgbClr val="D49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sl:team-info"/>
          <p:cNvSpPr txBox="1"/>
          <p:nvPr/>
        </p:nvSpPr>
        <p:spPr>
          <a:xfrm>
            <a:off x="952500" y="4286250"/>
            <a:ext cx="10287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050" noProof="1">
                <a:solidFill>
                  <a:srgbClr val="FFFFFF">
                    <a:alpha val="60000"/>
                  </a:srgbClr>
                </a:solidFill>
                <a:latin typeface="Arial"/>
                <a:ea typeface="MiSans"/>
              </a:rPr>
              <a:t>Group 5 | C++ Programming | 2025.06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contents-label|s=$title"/>
          <p:cNvSpPr txBox="1"/>
          <p:nvPr/>
        </p:nvSpPr>
        <p:spPr>
          <a:xfrm>
            <a:off x="571500" y="1905000"/>
            <a:ext cx="3810000" cy="762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3600" noProof="1">
                <a:solidFill>
                  <a:srgbClr val="1B2A4A"/>
                </a:solidFill>
                <a:latin typeface="Arial"/>
                <a:ea typeface="MiSans"/>
              </a:rPr>
              <a:t>CONTENTS</a:t>
            </a:r>
          </a:p>
        </p:txBody>
      </p:sp>
      <p:sp>
        <p:nvSpPr>
          <p:cNvPr id="3" name="dsl:contents-label-cn|s=$subtitle"/>
          <p:cNvSpPr txBox="1"/>
          <p:nvPr/>
        </p:nvSpPr>
        <p:spPr>
          <a:xfrm>
            <a:off x="571500" y="2762250"/>
            <a:ext cx="3810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500" noProof="1">
                <a:solidFill>
                  <a:srgbClr val="5B6B82"/>
                </a:solidFill>
                <a:latin typeface="Arial"/>
                <a:ea typeface="MiSans"/>
              </a:rPr>
              <a:t>CONTENTS</a:t>
            </a:r>
          </a:p>
        </p:txBody>
      </p:sp>
      <p:sp>
        <p:nvSpPr>
          <p:cNvPr id="4" name="dsl:accent-bar"/>
          <p:cNvSpPr/>
          <p:nvPr/>
        </p:nvSpPr>
        <p:spPr>
          <a:xfrm>
            <a:off x="571500" y="3238500"/>
            <a:ext cx="762000" cy="38100"/>
          </a:xfrm>
          <a:prstGeom prst="rect">
            <a:avLst/>
          </a:prstGeom>
          <a:solidFill>
            <a:srgbClr val="D49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sl:ch1-num|s=$accent"/>
          <p:cNvSpPr txBox="1"/>
          <p:nvPr/>
        </p:nvSpPr>
        <p:spPr>
          <a:xfrm>
            <a:off x="4762500" y="1714500"/>
            <a:ext cx="5715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2700" noProof="1">
                <a:solidFill>
                  <a:srgbClr val="D4943A"/>
                </a:solidFill>
                <a:latin typeface="Arial"/>
                <a:ea typeface="MiSans"/>
              </a:rPr>
              <a:t>01</a:t>
            </a:r>
          </a:p>
        </p:txBody>
      </p:sp>
      <p:sp>
        <p:nvSpPr>
          <p:cNvPr id="6" name="dsl:ch1-title|s=$title"/>
          <p:cNvSpPr txBox="1"/>
          <p:nvPr/>
        </p:nvSpPr>
        <p:spPr>
          <a:xfrm>
            <a:off x="5334000" y="1714500"/>
            <a:ext cx="47625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650" noProof="1">
                <a:solidFill>
                  <a:srgbClr val="1B2A4A"/>
                </a:solidFill>
                <a:latin typeface="Arial"/>
                <a:ea typeface="MiSans"/>
              </a:rPr>
              <a:t>Background &amp; Overview</a:t>
            </a:r>
          </a:p>
        </p:txBody>
      </p:sp>
      <p:sp>
        <p:nvSpPr>
          <p:cNvPr id="7" name="dsl:ch1-sub|s=$subtitle"/>
          <p:cNvSpPr txBox="1"/>
          <p:nvPr/>
        </p:nvSpPr>
        <p:spPr>
          <a:xfrm>
            <a:off x="5334000" y="2047875"/>
            <a:ext cx="47625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200" noProof="1">
                <a:solidFill>
                  <a:srgbClr val="5B6B82"/>
                </a:solidFill>
                <a:latin typeface="Arial"/>
                <a:ea typeface="MiSans"/>
              </a:rPr>
              <a:t>Background &amp; Overview</a:t>
            </a:r>
          </a:p>
        </p:txBody>
      </p:sp>
      <p:sp>
        <p:nvSpPr>
          <p:cNvPr id="8" name="dsl:ch1-line"/>
          <p:cNvSpPr/>
          <p:nvPr/>
        </p:nvSpPr>
        <p:spPr>
          <a:xfrm>
            <a:off x="4762500" y="2476500"/>
            <a:ext cx="6286500" cy="9525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sl:ch2-num|s=$accent"/>
          <p:cNvSpPr txBox="1"/>
          <p:nvPr/>
        </p:nvSpPr>
        <p:spPr>
          <a:xfrm>
            <a:off x="4762500" y="2762250"/>
            <a:ext cx="5715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2700" noProof="1">
                <a:solidFill>
                  <a:srgbClr val="D4943A"/>
                </a:solidFill>
                <a:latin typeface="Arial"/>
                <a:ea typeface="MiSans"/>
              </a:rPr>
              <a:t>02</a:t>
            </a:r>
          </a:p>
        </p:txBody>
      </p:sp>
      <p:sp>
        <p:nvSpPr>
          <p:cNvPr id="10" name="dsl:ch2-title|s=$title"/>
          <p:cNvSpPr txBox="1"/>
          <p:nvPr/>
        </p:nvSpPr>
        <p:spPr>
          <a:xfrm>
            <a:off x="5334000" y="2762250"/>
            <a:ext cx="47625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650" noProof="1">
                <a:solidFill>
                  <a:srgbClr val="1B2A4A"/>
                </a:solidFill>
                <a:latin typeface="Arial"/>
                <a:ea typeface="MiSans"/>
              </a:rPr>
              <a:t>Architecture &amp; C++ Design</a:t>
            </a:r>
          </a:p>
        </p:txBody>
      </p:sp>
      <p:sp>
        <p:nvSpPr>
          <p:cNvPr id="11" name="dsl:ch2-sub|s=$subtitle"/>
          <p:cNvSpPr txBox="1"/>
          <p:nvPr/>
        </p:nvSpPr>
        <p:spPr>
          <a:xfrm>
            <a:off x="5334000" y="3095625"/>
            <a:ext cx="47625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200" noProof="1">
                <a:solidFill>
                  <a:srgbClr val="5B6B82"/>
                </a:solidFill>
                <a:latin typeface="Arial"/>
                <a:ea typeface="MiSans"/>
              </a:rPr>
              <a:t>Architecture &amp; C++ Design</a:t>
            </a:r>
          </a:p>
        </p:txBody>
      </p:sp>
      <p:sp>
        <p:nvSpPr>
          <p:cNvPr id="12" name="dsl:ch2-line"/>
          <p:cNvSpPr/>
          <p:nvPr/>
        </p:nvSpPr>
        <p:spPr>
          <a:xfrm>
            <a:off x="4762500" y="3524250"/>
            <a:ext cx="6286500" cy="9525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sl:ch3-num|s=$accent"/>
          <p:cNvSpPr txBox="1"/>
          <p:nvPr/>
        </p:nvSpPr>
        <p:spPr>
          <a:xfrm>
            <a:off x="4762500" y="3810000"/>
            <a:ext cx="5715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2700" noProof="1">
                <a:solidFill>
                  <a:srgbClr val="D4943A"/>
                </a:solidFill>
                <a:latin typeface="Arial"/>
                <a:ea typeface="MiSans"/>
              </a:rPr>
              <a:t>03</a:t>
            </a:r>
          </a:p>
        </p:txBody>
      </p:sp>
      <p:sp>
        <p:nvSpPr>
          <p:cNvPr id="14" name="dsl:ch3-title|s=$title"/>
          <p:cNvSpPr txBox="1"/>
          <p:nvPr/>
        </p:nvSpPr>
        <p:spPr>
          <a:xfrm>
            <a:off x="5334000" y="3810000"/>
            <a:ext cx="47625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650" noProof="1">
                <a:solidFill>
                  <a:srgbClr val="1B2A4A"/>
                </a:solidFill>
                <a:latin typeface="Arial"/>
                <a:ea typeface="MiSans"/>
              </a:rPr>
              <a:t>Testing &amp; Validation</a:t>
            </a:r>
          </a:p>
        </p:txBody>
      </p:sp>
      <p:sp>
        <p:nvSpPr>
          <p:cNvPr id="15" name="dsl:ch3-sub|s=$subtitle"/>
          <p:cNvSpPr txBox="1"/>
          <p:nvPr/>
        </p:nvSpPr>
        <p:spPr>
          <a:xfrm>
            <a:off x="5334000" y="4143375"/>
            <a:ext cx="47625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200" noProof="1">
                <a:solidFill>
                  <a:srgbClr val="5B6B82"/>
                </a:solidFill>
                <a:latin typeface="Arial"/>
                <a:ea typeface="MiSans"/>
              </a:rPr>
              <a:t>Testing &amp; Validation</a:t>
            </a:r>
          </a:p>
        </p:txBody>
      </p:sp>
      <p:sp>
        <p:nvSpPr>
          <p:cNvPr id="16" name="dsl:ch3-line"/>
          <p:cNvSpPr/>
          <p:nvPr/>
        </p:nvSpPr>
        <p:spPr>
          <a:xfrm>
            <a:off x="4762500" y="4572000"/>
            <a:ext cx="6286500" cy="9525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sl:ch4-num|s=$accent"/>
          <p:cNvSpPr txBox="1"/>
          <p:nvPr/>
        </p:nvSpPr>
        <p:spPr>
          <a:xfrm>
            <a:off x="4762500" y="4857750"/>
            <a:ext cx="5715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2700" noProof="1">
                <a:solidFill>
                  <a:srgbClr val="D4943A"/>
                </a:solidFill>
                <a:latin typeface="Arial"/>
                <a:ea typeface="MiSans"/>
              </a:rPr>
              <a:t>04</a:t>
            </a:r>
          </a:p>
        </p:txBody>
      </p:sp>
      <p:sp>
        <p:nvSpPr>
          <p:cNvPr id="18" name="dsl:ch4-title|s=$title"/>
          <p:cNvSpPr txBox="1"/>
          <p:nvPr/>
        </p:nvSpPr>
        <p:spPr>
          <a:xfrm>
            <a:off x="5334000" y="4857750"/>
            <a:ext cx="47625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650" noProof="1">
                <a:solidFill>
                  <a:srgbClr val="1B2A4A"/>
                </a:solidFill>
                <a:latin typeface="Arial"/>
                <a:ea typeface="MiSans"/>
              </a:rPr>
              <a:t>Conclusion &amp; Team</a:t>
            </a:r>
          </a:p>
        </p:txBody>
      </p:sp>
      <p:sp>
        <p:nvSpPr>
          <p:cNvPr id="19" name="dsl:ch4-sub|s=$subtitle"/>
          <p:cNvSpPr txBox="1"/>
          <p:nvPr/>
        </p:nvSpPr>
        <p:spPr>
          <a:xfrm>
            <a:off x="5334000" y="5191125"/>
            <a:ext cx="47625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200" noProof="1">
                <a:solidFill>
                  <a:srgbClr val="5B6B82"/>
                </a:solidFill>
                <a:latin typeface="Arial"/>
                <a:ea typeface="MiSans"/>
              </a:rPr>
              <a:t>Conclusion &amp; Team</a:t>
            </a:r>
          </a:p>
        </p:txBody>
      </p:sp>
      <p:sp>
        <p:nvSpPr>
          <p:cNvPr id="20" name="dsl:ch4-line"/>
          <p:cNvSpPr/>
          <p:nvPr/>
        </p:nvSpPr>
        <p:spPr>
          <a:xfrm>
            <a:off x="4762500" y="5619750"/>
            <a:ext cx="6286500" cy="9525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dsl:bg-img" descr="C:\Users\Lenovo\Documents\kimi\workspace\ai_reality_bridge\images\display-options.png"/>
          <p:cNvPicPr>
            <a:picLocks noChangeAspect="1"/>
          </p:cNvPicPr>
          <p:nvPr/>
        </p:nvPicPr>
        <p:blipFill>
          <a:blip r:embed="rId2"/>
          <a:srcRect l="2578" r="25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3" name="dsl:mask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B2A4A">
                  <a:alpha val="12549"/>
                </a:srgbClr>
              </a:gs>
              <a:gs pos="50000">
                <a:srgbClr val="1B2A4A">
                  <a:alpha val="60000"/>
                </a:srgbClr>
              </a:gs>
              <a:gs pos="100000">
                <a:srgbClr val="1B2A4A">
                  <a:alpha val="90196"/>
                </a:srgbClr>
              </a:gs>
            </a:gsLst>
            <a:lin scaled="0" ang="5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ch-num"/>
          <p:cNvSpPr txBox="1"/>
          <p:nvPr/>
        </p:nvSpPr>
        <p:spPr>
          <a:xfrm>
            <a:off x="952500" y="1714500"/>
            <a:ext cx="2857500" cy="1143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7200" noProof="1">
                <a:solidFill>
                  <a:srgbClr val="D4943A"/>
                </a:solidFill>
                <a:latin typeface="Arial"/>
                <a:ea typeface="MiSans"/>
              </a:rPr>
              <a:t>01</a:t>
            </a:r>
          </a:p>
        </p:txBody>
      </p:sp>
      <p:sp>
        <p:nvSpPr>
          <p:cNvPr id="5" name="dsl:ch-title-en"/>
          <p:cNvSpPr txBox="1"/>
          <p:nvPr/>
        </p:nvSpPr>
        <p:spPr>
          <a:xfrm>
            <a:off x="952500" y="3048000"/>
            <a:ext cx="7620000" cy="52387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2700" noProof="1">
                <a:solidFill>
                  <a:srgbClr val="FFFFFF"/>
                </a:solidFill>
                <a:latin typeface="Arial"/>
                <a:ea typeface="MiSans"/>
              </a:rPr>
              <a:t>Background &amp; Overview</a:t>
            </a:r>
          </a:p>
        </p:txBody>
      </p:sp>
      <p:sp>
        <p:nvSpPr>
          <p:cNvPr id="6" name="dsl:ch-title-cn"/>
          <p:cNvSpPr txBox="1"/>
          <p:nvPr/>
        </p:nvSpPr>
        <p:spPr>
          <a:xfrm>
            <a:off x="952500" y="3667125"/>
            <a:ext cx="7620000" cy="33337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650" noProof="1">
                <a:solidFill>
                  <a:srgbClr val="FFFFFF">
                    <a:alpha val="80000"/>
                  </a:srgbClr>
                </a:solidFill>
                <a:latin typeface="Arial"/>
                <a:ea typeface="MiSans"/>
              </a:rPr>
              <a:t>Background &amp; Overview</a:t>
            </a:r>
          </a:p>
        </p:txBody>
      </p:sp>
      <p:sp>
        <p:nvSpPr>
          <p:cNvPr id="7" name="dsl:accent-line"/>
          <p:cNvSpPr/>
          <p:nvPr/>
        </p:nvSpPr>
        <p:spPr>
          <a:xfrm>
            <a:off x="952500" y="4191000"/>
            <a:ext cx="1143000" cy="38100"/>
          </a:xfrm>
          <a:prstGeom prst="rect">
            <a:avLst/>
          </a:prstGeom>
          <a:solidFill>
            <a:srgbClr val="D49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nav-bar"/>
          <p:cNvSpPr/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nav-text|s=$nav"/>
          <p:cNvSpPr txBox="1"/>
          <p:nvPr/>
        </p:nvSpPr>
        <p:spPr>
          <a:xfrm>
            <a:off x="571500" y="0"/>
            <a:ext cx="38100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050" noProof="1">
                <a:solidFill>
                  <a:srgbClr val="FFFFFF"/>
                </a:solidFill>
                <a:latin typeface="Arial"/>
                <a:ea typeface="MiSans"/>
              </a:rPr>
              <a:t>01 Background &amp; Overview</a:t>
            </a:r>
          </a:p>
        </p:txBody>
      </p:sp>
      <p:sp>
        <p:nvSpPr>
          <p:cNvPr id="4" name="dsl:nav-accent"/>
          <p:cNvSpPr/>
          <p:nvPr/>
        </p:nvSpPr>
        <p:spPr>
          <a:xfrm>
            <a:off x="0" y="342900"/>
            <a:ext cx="1905000" cy="38100"/>
          </a:xfrm>
          <a:prstGeom prst="rect">
            <a:avLst/>
          </a:prstGeom>
          <a:solidFill>
            <a:srgbClr val="D49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sl:page-title|s=$title"/>
          <p:cNvSpPr txBox="1"/>
          <p:nvPr/>
        </p:nvSpPr>
        <p:spPr>
          <a:xfrm>
            <a:off x="571500" y="571500"/>
            <a:ext cx="7620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2100" noProof="1">
                <a:solidFill>
                  <a:srgbClr val="1B2A4A"/>
                </a:solidFill>
                <a:latin typeface="Arial"/>
                <a:ea typeface="MiSans"/>
              </a:rPr>
              <a:t>Project Background &amp; Motivation / Project Background &amp; Motivation</a:t>
            </a:r>
          </a:p>
        </p:txBody>
      </p:sp>
      <p:sp>
        <p:nvSpPr>
          <p:cNvPr id="6" name="dsl:status-title"/>
          <p:cNvSpPr txBox="1"/>
          <p:nvPr/>
        </p:nvSpPr>
        <p:spPr>
          <a:xfrm>
            <a:off x="571500" y="1143000"/>
            <a:ext cx="28575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500" noProof="1">
                <a:solidFill>
                  <a:srgbClr val="1B2A4A"/>
                </a:solidFill>
                <a:latin typeface="Arial"/>
                <a:ea typeface="MiSans"/>
              </a:rPr>
              <a:t>1. Industry Status</a:t>
            </a:r>
          </a:p>
        </p:txBody>
      </p:sp>
      <p:sp>
        <p:nvSpPr>
          <p:cNvPr id="7" name="dsl:status-line"/>
          <p:cNvSpPr/>
          <p:nvPr/>
        </p:nvSpPr>
        <p:spPr>
          <a:xfrm>
            <a:off x="571500" y="1476375"/>
            <a:ext cx="11049000" cy="9525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sl:status-text|s=$body"/>
          <p:cNvSpPr txBox="1"/>
          <p:nvPr/>
        </p:nvSpPr>
        <p:spPr>
          <a:xfrm>
            <a:off x="571500" y="1600200"/>
            <a:ext cx="11049000" cy="4762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F2937"/>
                </a:solidFill>
                <a:latin typeface="Arial"/>
                <a:ea typeface="MiSans"/>
              </a:rPr>
              <a:t>Mainstream AI tools rely on touchscreens, creating fragmented perception-interaction-feedback pipelines that are unsuitable for hands-free scenarios.</a:t>
            </a:r>
          </a:p>
        </p:txBody>
      </p:sp>
      <p:sp>
        <p:nvSpPr>
          <p:cNvPr id="9" name="dsl:defect-section-title"/>
          <p:cNvSpPr txBox="1"/>
          <p:nvPr/>
        </p:nvSpPr>
        <p:spPr>
          <a:xfrm>
            <a:off x="571500" y="2171700"/>
            <a:ext cx="47625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500" noProof="1">
                <a:solidFill>
                  <a:srgbClr val="1B2A4A"/>
                </a:solidFill>
                <a:latin typeface="Arial"/>
                <a:ea typeface="MiSans"/>
              </a:rPr>
              <a:t>2. Four Core Defects of Traditional Interaction</a:t>
            </a:r>
          </a:p>
        </p:txBody>
      </p:sp>
      <p:sp>
        <p:nvSpPr>
          <p:cNvPr id="10" name="dsl:card1-bg"/>
          <p:cNvSpPr/>
          <p:nvPr/>
        </p:nvSpPr>
        <p:spPr>
          <a:xfrm>
            <a:off x="571500" y="2552700"/>
            <a:ext cx="2667000" cy="1238250"/>
          </a:xfrm>
          <a:prstGeom prst="roundRect">
            <a:avLst>
              <a:gd name="adj" fmla="val 8000"/>
            </a:avLst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card1-num"/>
          <p:cNvSpPr txBox="1"/>
          <p:nvPr/>
        </p:nvSpPr>
        <p:spPr>
          <a:xfrm>
            <a:off x="714375" y="2619375"/>
            <a:ext cx="381000" cy="2476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350" noProof="1">
                <a:solidFill>
                  <a:srgbClr val="D4943A"/>
                </a:solidFill>
                <a:latin typeface="Arial"/>
                <a:ea typeface="MiSans"/>
              </a:rPr>
              <a:t>①</a:t>
            </a:r>
          </a:p>
        </p:txBody>
      </p:sp>
      <p:sp>
        <p:nvSpPr>
          <p:cNvPr id="12" name="dsl:card1-title"/>
          <p:cNvSpPr txBox="1"/>
          <p:nvPr/>
        </p:nvSpPr>
        <p:spPr>
          <a:xfrm>
            <a:off x="1143000" y="2619375"/>
            <a:ext cx="1952625" cy="2476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200" noProof="1">
                <a:solidFill>
                  <a:srgbClr val="1B2A4A"/>
                </a:solidFill>
                <a:latin typeface="Arial"/>
                <a:ea typeface="MiSans"/>
              </a:rPr>
              <a:t>Passive Human-Machine Interaction</a:t>
            </a:r>
          </a:p>
        </p:txBody>
      </p:sp>
      <p:sp>
        <p:nvSpPr>
          <p:cNvPr id="13" name="dsl:card1-text"/>
          <p:cNvSpPr txBox="1"/>
          <p:nvPr/>
        </p:nvSpPr>
        <p:spPr>
          <a:xfrm>
            <a:off x="714375" y="2933700"/>
            <a:ext cx="2381250" cy="762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1F2937"/>
                </a:solidFill>
                <a:latin typeface="Arial"/>
                <a:ea typeface="MiSans"/>
              </a:rPr>
              <a:t>AI cannot actively perceive the environment and can only wait for manual user input. Without visual or gesture-based sensing, scenario-driven responses are impossible.</a:t>
            </a:r>
          </a:p>
        </p:txBody>
      </p:sp>
      <p:sp>
        <p:nvSpPr>
          <p:cNvPr id="14" name="dsl:card2-bg"/>
          <p:cNvSpPr/>
          <p:nvPr/>
        </p:nvSpPr>
        <p:spPr>
          <a:xfrm>
            <a:off x="3429000" y="2552700"/>
            <a:ext cx="2667000" cy="1238250"/>
          </a:xfrm>
          <a:prstGeom prst="roundRect">
            <a:avLst>
              <a:gd name="adj" fmla="val 8000"/>
            </a:avLst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l:card2-num"/>
          <p:cNvSpPr txBox="1"/>
          <p:nvPr/>
        </p:nvSpPr>
        <p:spPr>
          <a:xfrm>
            <a:off x="3571875" y="2619375"/>
            <a:ext cx="381000" cy="2476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350" noProof="1">
                <a:solidFill>
                  <a:srgbClr val="D4943A"/>
                </a:solidFill>
                <a:latin typeface="Arial"/>
                <a:ea typeface="MiSans"/>
              </a:rPr>
              <a:t>②</a:t>
            </a:r>
          </a:p>
        </p:txBody>
      </p:sp>
      <p:sp>
        <p:nvSpPr>
          <p:cNvPr id="16" name="dsl:card2-title"/>
          <p:cNvSpPr txBox="1"/>
          <p:nvPr/>
        </p:nvSpPr>
        <p:spPr>
          <a:xfrm>
            <a:off x="4000500" y="2619375"/>
            <a:ext cx="1952625" cy="2476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200" noProof="1">
                <a:solidFill>
                  <a:srgbClr val="1B2A4A"/>
                </a:solidFill>
                <a:latin typeface="Arial"/>
                <a:ea typeface="MiSans"/>
              </a:rPr>
              <a:t>Long and Fragmented Operation Chain</a:t>
            </a:r>
          </a:p>
        </p:txBody>
      </p:sp>
      <p:sp>
        <p:nvSpPr>
          <p:cNvPr id="17" name="dsl:card2-text"/>
          <p:cNvSpPr txBox="1"/>
          <p:nvPr/>
        </p:nvSpPr>
        <p:spPr>
          <a:xfrm>
            <a:off x="3571875" y="2933700"/>
            <a:ext cx="2381250" cy="762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1F2937"/>
                </a:solidFill>
                <a:latin typeface="Arial"/>
                <a:ea typeface="MiSans"/>
              </a:rPr>
              <a:t>Image analysis requires unlocking the device, opening software, capturing, uploading, and waiting for a response. Multiple manual steps interrupt the flow with poor real-time performance.</a:t>
            </a:r>
          </a:p>
        </p:txBody>
      </p:sp>
      <p:sp>
        <p:nvSpPr>
          <p:cNvPr id="18" name="dsl:card3-bg"/>
          <p:cNvSpPr/>
          <p:nvPr/>
        </p:nvSpPr>
        <p:spPr>
          <a:xfrm>
            <a:off x="571500" y="3981450"/>
            <a:ext cx="2667000" cy="1238250"/>
          </a:xfrm>
          <a:prstGeom prst="roundRect">
            <a:avLst>
              <a:gd name="adj" fmla="val 8000"/>
            </a:avLst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sl:card3-num"/>
          <p:cNvSpPr txBox="1"/>
          <p:nvPr/>
        </p:nvSpPr>
        <p:spPr>
          <a:xfrm>
            <a:off x="714375" y="4048125"/>
            <a:ext cx="381000" cy="2476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350" noProof="1">
                <a:solidFill>
                  <a:srgbClr val="D4943A"/>
                </a:solidFill>
                <a:latin typeface="Arial"/>
                <a:ea typeface="MiSans"/>
              </a:rPr>
              <a:t>③</a:t>
            </a:r>
          </a:p>
        </p:txBody>
      </p:sp>
      <p:sp>
        <p:nvSpPr>
          <p:cNvPr id="20" name="dsl:card3-title"/>
          <p:cNvSpPr txBox="1"/>
          <p:nvPr/>
        </p:nvSpPr>
        <p:spPr>
          <a:xfrm>
            <a:off x="1143000" y="4048125"/>
            <a:ext cx="1952625" cy="2476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200" noProof="1">
                <a:solidFill>
                  <a:srgbClr val="1B2A4A"/>
                </a:solidFill>
                <a:latin typeface="Arial"/>
                <a:ea typeface="MiSans"/>
              </a:rPr>
              <a:t>Limited Single-Modality Feedback</a:t>
            </a:r>
          </a:p>
        </p:txBody>
      </p:sp>
      <p:sp>
        <p:nvSpPr>
          <p:cNvPr id="21" name="dsl:card3-text"/>
          <p:cNvSpPr txBox="1"/>
          <p:nvPr/>
        </p:nvSpPr>
        <p:spPr>
          <a:xfrm>
            <a:off x="714375" y="4362450"/>
            <a:ext cx="2381250" cy="762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1F2937"/>
                </a:solidFill>
                <a:latin typeface="Arial"/>
                <a:ea typeface="MiSans"/>
              </a:rPr>
              <a:t>Results are only text on screen. Hardware audio-visual, OLED, and status indicators are missing, resulting in poor environmental adaptability.</a:t>
            </a:r>
          </a:p>
        </p:txBody>
      </p:sp>
      <p:sp>
        <p:nvSpPr>
          <p:cNvPr id="22" name="dsl:card4-bg"/>
          <p:cNvSpPr/>
          <p:nvPr/>
        </p:nvSpPr>
        <p:spPr>
          <a:xfrm>
            <a:off x="3429000" y="3981450"/>
            <a:ext cx="2667000" cy="1238250"/>
          </a:xfrm>
          <a:prstGeom prst="roundRect">
            <a:avLst>
              <a:gd name="adj" fmla="val 8000"/>
            </a:avLst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sl:card4-num"/>
          <p:cNvSpPr txBox="1"/>
          <p:nvPr/>
        </p:nvSpPr>
        <p:spPr>
          <a:xfrm>
            <a:off x="3571875" y="4048125"/>
            <a:ext cx="381000" cy="2476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350" noProof="1">
                <a:solidFill>
                  <a:srgbClr val="D4943A"/>
                </a:solidFill>
                <a:latin typeface="Arial"/>
                <a:ea typeface="MiSans"/>
              </a:rPr>
              <a:t>④</a:t>
            </a:r>
          </a:p>
        </p:txBody>
      </p:sp>
      <p:sp>
        <p:nvSpPr>
          <p:cNvPr id="24" name="dsl:card4-title"/>
          <p:cNvSpPr txBox="1"/>
          <p:nvPr/>
        </p:nvSpPr>
        <p:spPr>
          <a:xfrm>
            <a:off x="4000500" y="4048125"/>
            <a:ext cx="1952625" cy="2476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200" noProof="1">
                <a:solidFill>
                  <a:srgbClr val="1B2A4A"/>
                </a:solidFill>
                <a:latin typeface="Arial"/>
                <a:ea typeface="MiSans"/>
              </a:rPr>
              <a:t>Hands-Free Interaction Blind Spots</a:t>
            </a:r>
          </a:p>
        </p:txBody>
      </p:sp>
      <p:sp>
        <p:nvSpPr>
          <p:cNvPr id="25" name="dsl:card4-text"/>
          <p:cNvSpPr txBox="1"/>
          <p:nvPr/>
        </p:nvSpPr>
        <p:spPr>
          <a:xfrm>
            <a:off x="3571875" y="4362450"/>
            <a:ext cx="2381250" cy="762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1F2937"/>
                </a:solidFill>
                <a:latin typeface="Arial"/>
                <a:ea typeface="MiSans"/>
              </a:rPr>
              <a:t>Cooking, debugging, and inspection occupy both hands, making touchscreen operation impossible. Pure voice is vulnerable to noise with poor recognition stability.</a:t>
            </a:r>
          </a:p>
        </p:txBody>
      </p:sp>
      <p:sp>
        <p:nvSpPr>
          <p:cNvPr id="26" name="dsl:gap-title"/>
          <p:cNvSpPr txBox="1"/>
          <p:nvPr/>
        </p:nvSpPr>
        <p:spPr>
          <a:xfrm>
            <a:off x="6477000" y="2171700"/>
            <a:ext cx="51435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500" noProof="1">
                <a:solidFill>
                  <a:srgbClr val="1B2A4A"/>
                </a:solidFill>
                <a:latin typeface="Arial"/>
                <a:ea typeface="MiSans"/>
              </a:rPr>
              <a:t>3. Shortcomings of Existing Smart Hardware</a:t>
            </a:r>
          </a:p>
        </p:txBody>
      </p:sp>
      <p:sp>
        <p:nvSpPr>
          <p:cNvPr id="27" name="dsl:gap-bg"/>
          <p:cNvSpPr/>
          <p:nvPr/>
        </p:nvSpPr>
        <p:spPr>
          <a:xfrm>
            <a:off x="6477000" y="2552700"/>
            <a:ext cx="5143500" cy="2667000"/>
          </a:xfrm>
          <a:prstGeom prst="roundRect">
            <a:avLst>
              <a:gd name="adj" fmla="val 6000"/>
            </a:avLst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dsl:gap-text|s=$body"/>
          <p:cNvSpPr txBox="1"/>
          <p:nvPr/>
        </p:nvSpPr>
        <p:spPr>
          <a:xfrm>
            <a:off x="6667500" y="2743200"/>
            <a:ext cx="4762500" cy="2286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b="1" sz="1350" noProof="1">
                <a:solidFill>
                  <a:srgbClr val="1F2937"/>
                </a:solidFill>
                <a:latin typeface="Arial"/>
                <a:ea typeface="MiSans"/>
              </a:rPr>
              <a:t>Commercial smart glasses face bottlenecks:</a:t>
            </a:r>
          </a:p>
          <a:p>
            <a:pPr algn="l">
              <a:lnSpc>
                <a:spcPct val="160000"/>
              </a:lnSpc>
            </a:pPr>
            <a:r>
              <a:rPr sz="1350" noProof="1">
                <a:solidFill>
                  <a:srgbClr val="1F2937"/>
                </a:solidFill>
                <a:latin typeface="Arial"/>
                <a:ea typeface="MiSans"/>
              </a:rPr>
              <a:t>• Limited power and computing make it difficult to build a complete perception-reasoning-hardware feedback loop at low cost.</a:t>
            </a:r>
          </a:p>
          <a:p>
            <a:pPr algn="l">
              <a:lnSpc>
                <a:spcPct val="160000"/>
              </a:lnSpc>
            </a:pPr>
            <a:r>
              <a:rPr sz="1350" noProof="1">
                <a:solidFill>
                  <a:srgbClr val="1F2937"/>
                </a:solidFill>
                <a:latin typeface="Arial"/>
                <a:ea typeface="MiSans"/>
              </a:rPr>
              <a:t>• The long development cycle is unsuitable for quickly validating the underlying interaction chain in course projects.</a:t>
            </a:r>
          </a:p>
          <a:p>
            <a:pPr algn="l">
              <a:lnSpc>
                <a:spcPct val="160000"/>
              </a:lnSpc>
            </a:pPr>
            <a:r>
              <a:rPr sz="1350" noProof="1">
                <a:solidFill>
                  <a:srgbClr val="1F2937"/>
                </a:solidFill>
                <a:latin typeface="Arial"/>
                <a:ea typeface="MiSans"/>
              </a:rPr>
              <a:t>• The lack of a reusable desktop prototype platform makes iteration within the course timeframe difficult.</a:t>
            </a:r>
          </a:p>
        </p:txBody>
      </p:sp>
      <p:sp>
        <p:nvSpPr>
          <p:cNvPr id="29" name="dsl:motive-bg"/>
          <p:cNvSpPr/>
          <p:nvPr/>
        </p:nvSpPr>
        <p:spPr>
          <a:xfrm>
            <a:off x="571500" y="5353050"/>
            <a:ext cx="11049000" cy="1047750"/>
          </a:xfrm>
          <a:prstGeom prst="roundRect">
            <a:avLst>
              <a:gd name="adj" fmla="val 6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dsl:motive-title"/>
          <p:cNvSpPr txBox="1"/>
          <p:nvPr/>
        </p:nvSpPr>
        <p:spPr>
          <a:xfrm>
            <a:off x="762000" y="5429250"/>
            <a:ext cx="1905000" cy="2667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350" noProof="1">
                <a:solidFill>
                  <a:srgbClr val="D4943A"/>
                </a:solidFill>
                <a:latin typeface="Arial"/>
                <a:ea typeface="MiSans"/>
              </a:rPr>
              <a:t>4. Project Motivation</a:t>
            </a:r>
          </a:p>
        </p:txBody>
      </p:sp>
      <p:sp>
        <p:nvSpPr>
          <p:cNvPr id="31" name="dsl:motive-text"/>
          <p:cNvSpPr txBox="1"/>
          <p:nvPr/>
        </p:nvSpPr>
        <p:spPr>
          <a:xfrm>
            <a:off x="762000" y="5743575"/>
            <a:ext cx="10668000" cy="61912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50000"/>
              </a:lnSpc>
            </a:pPr>
            <a:r>
              <a:rPr sz="1200" noProof="1">
                <a:solidFill>
                  <a:srgbClr val="FFFFFF"/>
                </a:solidFill>
                <a:latin typeface="Arial"/>
                <a:ea typeface="MiSans"/>
              </a:rPr>
              <a:t>Build a Raspberry Pi + NUCLEO dual-mainboard prototype to simulate smart glasses' core functions. Camera/microphone capture → C++ multimodal AI inference → hardware audio-visual feedback. A single button triggers a complete interaction loop, validating the full hands-free embedded AI interaction pipeline.</a:t>
            </a:r>
          </a:p>
        </p:txBody>
      </p:sp>
      <p:sp>
        <p:nvSpPr>
          <p:cNvPr id="32" name="dsl:page-num|s=$caption"/>
          <p:cNvSpPr txBox="1"/>
          <p:nvPr/>
        </p:nvSpPr>
        <p:spPr>
          <a:xfrm>
            <a:off x="11239500" y="6572250"/>
            <a:ext cx="5715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B6B82"/>
                </a:solidFill>
                <a:latin typeface="Arial"/>
                <a:ea typeface="MiSan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nav-bar"/>
          <p:cNvSpPr/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nav-text|s=$nav"/>
          <p:cNvSpPr txBox="1"/>
          <p:nvPr/>
        </p:nvSpPr>
        <p:spPr>
          <a:xfrm>
            <a:off x="571500" y="0"/>
            <a:ext cx="38100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050" noProof="1">
                <a:solidFill>
                  <a:srgbClr val="FFFFFF"/>
                </a:solidFill>
                <a:latin typeface="Arial"/>
                <a:ea typeface="MiSans"/>
              </a:rPr>
              <a:t>01 Background &amp; Overview</a:t>
            </a:r>
          </a:p>
        </p:txBody>
      </p:sp>
      <p:sp>
        <p:nvSpPr>
          <p:cNvPr id="4" name="dsl:nav-accent"/>
          <p:cNvSpPr/>
          <p:nvPr/>
        </p:nvSpPr>
        <p:spPr>
          <a:xfrm>
            <a:off x="0" y="342900"/>
            <a:ext cx="1905000" cy="38100"/>
          </a:xfrm>
          <a:prstGeom prst="rect">
            <a:avLst/>
          </a:prstGeom>
          <a:solidFill>
            <a:srgbClr val="D49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sl:page-title|s=$title"/>
          <p:cNvSpPr txBox="1"/>
          <p:nvPr/>
        </p:nvSpPr>
        <p:spPr>
          <a:xfrm>
            <a:off x="571500" y="571500"/>
            <a:ext cx="7620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2100" noProof="1">
                <a:solidFill>
                  <a:srgbClr val="1B2A4A"/>
                </a:solidFill>
                <a:latin typeface="Arial"/>
                <a:ea typeface="MiSans"/>
              </a:rPr>
              <a:t>System Goals &amp; Objectives / System Goals &amp; Objectives</a:t>
            </a:r>
          </a:p>
        </p:txBody>
      </p:sp>
      <p:sp>
        <p:nvSpPr>
          <p:cNvPr id="6" name="dsl:card1-bg"/>
          <p:cNvSpPr/>
          <p:nvPr/>
        </p:nvSpPr>
        <p:spPr>
          <a:xfrm>
            <a:off x="571500" y="1524000"/>
            <a:ext cx="3429000" cy="2095500"/>
          </a:xfrm>
          <a:prstGeom prst="roundRect">
            <a:avLst>
              <a:gd name="adj" fmla="val 6000"/>
            </a:avLst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dsl:card1-icon|i=fas:camera" descr="tmpvtxu82e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714500"/>
            <a:ext cx="342900" cy="3429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8" name="dsl:card1-title"/>
          <p:cNvSpPr txBox="1"/>
          <p:nvPr/>
        </p:nvSpPr>
        <p:spPr>
          <a:xfrm>
            <a:off x="1238250" y="1695450"/>
            <a:ext cx="257175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350" noProof="1">
                <a:solidFill>
                  <a:srgbClr val="1B2A4A"/>
                </a:solidFill>
                <a:latin typeface="Arial"/>
                <a:ea typeface="MiSans"/>
              </a:rPr>
              <a:t>Image Acquisition</a:t>
            </a:r>
          </a:p>
        </p:txBody>
      </p:sp>
      <p:sp>
        <p:nvSpPr>
          <p:cNvPr id="9" name="dsl:card1-body"/>
          <p:cNvSpPr txBox="1"/>
          <p:nvPr/>
        </p:nvSpPr>
        <p:spPr>
          <a:xfrm>
            <a:off x="762000" y="2190750"/>
            <a:ext cx="3048000" cy="1143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200" noProof="1">
                <a:solidFill>
                  <a:srgbClr val="1F2937"/>
                </a:solidFill>
                <a:latin typeface="Arial"/>
                <a:ea typeface="MiSans"/>
              </a:rPr>
              <a:t>USB Camera + OpenCV Real-time Capture</a:t>
            </a:r>
          </a:p>
          <a:p>
            <a:pPr algn="l">
              <a:lnSpc>
                <a:spcPct val="150000"/>
              </a:lnSpc>
            </a:pPr>
            <a:r>
              <a:rPr sz="1200" noProof="1">
                <a:solidFill>
                  <a:srgbClr val="1F2937"/>
                </a:solidFill>
                <a:latin typeface="Arial"/>
                <a:ea typeface="MiSans"/>
              </a:rPr>
              <a:t>1280×720 Frame, JPEG Encoding</a:t>
            </a:r>
          </a:p>
          <a:p>
            <a:pPr algn="l">
              <a:lnSpc>
                <a:spcPct val="150000"/>
              </a:lnSpc>
              <a:spcBef>
                <a:spcPts val="450"/>
              </a:spcBef>
            </a:pPr>
            <a:r>
              <a:rPr sz="1200" noProof="1">
                <a:solidFill>
                  <a:srgbClr val="5B6B82"/>
                </a:solidFill>
                <a:latin typeface="Arial"/>
                <a:ea typeface="MiSans"/>
              </a:rPr>
              <a:t>→ Course: UI / Data</a:t>
            </a:r>
          </a:p>
        </p:txBody>
      </p:sp>
      <p:sp>
        <p:nvSpPr>
          <p:cNvPr id="10" name="dsl:card2-bg"/>
          <p:cNvSpPr/>
          <p:nvPr/>
        </p:nvSpPr>
        <p:spPr>
          <a:xfrm>
            <a:off x="4381500" y="1524000"/>
            <a:ext cx="3429000" cy="2095500"/>
          </a:xfrm>
          <a:prstGeom prst="roundRect">
            <a:avLst>
              <a:gd name="adj" fmla="val 6000"/>
            </a:avLst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dsl:card2-icon|i=fas:microphone" descr="tmpvtxu82e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714500"/>
            <a:ext cx="342900" cy="3429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2" name="dsl:card2-title"/>
          <p:cNvSpPr txBox="1"/>
          <p:nvPr/>
        </p:nvSpPr>
        <p:spPr>
          <a:xfrm>
            <a:off x="5048250" y="1695450"/>
            <a:ext cx="257175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350" noProof="1">
                <a:solidFill>
                  <a:srgbClr val="1B2A4A"/>
                </a:solidFill>
                <a:latin typeface="Arial"/>
                <a:ea typeface="MiSans"/>
              </a:rPr>
              <a:t>Voice Input</a:t>
            </a:r>
          </a:p>
        </p:txBody>
      </p:sp>
      <p:sp>
        <p:nvSpPr>
          <p:cNvPr id="13" name="dsl:card2-body"/>
          <p:cNvSpPr txBox="1"/>
          <p:nvPr/>
        </p:nvSpPr>
        <p:spPr>
          <a:xfrm>
            <a:off x="4572000" y="2190750"/>
            <a:ext cx="3048000" cy="1143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200" noProof="1">
                <a:solidFill>
                  <a:srgbClr val="1F2937"/>
                </a:solidFill>
                <a:latin typeface="Arial"/>
                <a:ea typeface="MiSans"/>
              </a:rPr>
              <a:t>Microphone + ASR Speech-to-Text</a:t>
            </a:r>
          </a:p>
          <a:p>
            <a:pPr algn="l">
              <a:lnSpc>
                <a:spcPct val="150000"/>
              </a:lnSpc>
            </a:pPr>
            <a:r>
              <a:rPr sz="1200" noProof="1">
                <a:solidFill>
                  <a:srgbClr val="1F2937"/>
                </a:solidFill>
                <a:latin typeface="Arial"/>
                <a:ea typeface="MiSans"/>
              </a:rPr>
              <a:t>5-Second Recording, WAV Format</a:t>
            </a:r>
          </a:p>
          <a:p>
            <a:pPr algn="l">
              <a:lnSpc>
                <a:spcPct val="150000"/>
              </a:lnSpc>
              <a:spcBef>
                <a:spcPts val="450"/>
              </a:spcBef>
            </a:pPr>
            <a:r>
              <a:rPr sz="1200" noProof="1">
                <a:solidFill>
                  <a:srgbClr val="5B6B82"/>
                </a:solidFill>
                <a:latin typeface="Arial"/>
                <a:ea typeface="MiSans"/>
              </a:rPr>
              <a:t>→ Course: Audio / I/O</a:t>
            </a:r>
          </a:p>
        </p:txBody>
      </p:sp>
      <p:sp>
        <p:nvSpPr>
          <p:cNvPr id="14" name="dsl:card3-bg"/>
          <p:cNvSpPr/>
          <p:nvPr/>
        </p:nvSpPr>
        <p:spPr>
          <a:xfrm>
            <a:off x="8191500" y="1524000"/>
            <a:ext cx="3429000" cy="2095500"/>
          </a:xfrm>
          <a:prstGeom prst="roundRect">
            <a:avLst>
              <a:gd name="adj" fmla="val 6000"/>
            </a:avLst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dsl:card3-icon|i=fas:brain" descr="tmpvtxu82e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0" y="1714500"/>
            <a:ext cx="342900" cy="3429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6" name="dsl:card3-title"/>
          <p:cNvSpPr txBox="1"/>
          <p:nvPr/>
        </p:nvSpPr>
        <p:spPr>
          <a:xfrm>
            <a:off x="8858250" y="1695450"/>
            <a:ext cx="257175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350" noProof="1">
                <a:solidFill>
                  <a:srgbClr val="1B2A4A"/>
                </a:solidFill>
                <a:latin typeface="Arial"/>
                <a:ea typeface="MiSans"/>
              </a:rPr>
              <a:t>AI Analysis</a:t>
            </a:r>
          </a:p>
        </p:txBody>
      </p:sp>
      <p:sp>
        <p:nvSpPr>
          <p:cNvPr id="17" name="dsl:card3-body"/>
          <p:cNvSpPr txBox="1"/>
          <p:nvPr/>
        </p:nvSpPr>
        <p:spPr>
          <a:xfrm>
            <a:off x="8382000" y="2190750"/>
            <a:ext cx="3048000" cy="1143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200" noProof="1">
                <a:solidFill>
                  <a:srgbClr val="1F2937"/>
                </a:solidFill>
                <a:latin typeface="Arial"/>
                <a:ea typeface="MiSans"/>
              </a:rPr>
              <a:t>Qwen-VL Vision-Language Model</a:t>
            </a:r>
          </a:p>
          <a:p>
            <a:pPr algn="l">
              <a:lnSpc>
                <a:spcPct val="150000"/>
              </a:lnSpc>
            </a:pPr>
            <a:r>
              <a:rPr sz="1200" noProof="1">
                <a:solidFill>
                  <a:srgbClr val="1F2937"/>
                </a:solidFill>
                <a:latin typeface="Arial"/>
                <a:ea typeface="MiSans"/>
              </a:rPr>
              <a:t>Image + Text Prompt → JSON Result</a:t>
            </a:r>
          </a:p>
          <a:p>
            <a:pPr algn="l">
              <a:lnSpc>
                <a:spcPct val="150000"/>
              </a:lnSpc>
              <a:spcBef>
                <a:spcPts val="450"/>
              </a:spcBef>
            </a:pPr>
            <a:r>
              <a:rPr sz="1200" noProof="1">
                <a:solidFill>
                  <a:srgbClr val="5B6B82"/>
                </a:solidFill>
                <a:latin typeface="Arial"/>
                <a:ea typeface="MiSans"/>
              </a:rPr>
              <a:t>→ Course: API / Logic</a:t>
            </a:r>
          </a:p>
        </p:txBody>
      </p:sp>
      <p:sp>
        <p:nvSpPr>
          <p:cNvPr id="18" name="dsl:card4-bg"/>
          <p:cNvSpPr/>
          <p:nvPr/>
        </p:nvSpPr>
        <p:spPr>
          <a:xfrm>
            <a:off x="571500" y="4000500"/>
            <a:ext cx="3429000" cy="2095500"/>
          </a:xfrm>
          <a:prstGeom prst="roundRect">
            <a:avLst>
              <a:gd name="adj" fmla="val 6000"/>
            </a:avLst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dsl:card4-icon|i=fas:volume-high" descr="tmpvtxu82e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4191000"/>
            <a:ext cx="342900" cy="3429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20" name="dsl:card4-title"/>
          <p:cNvSpPr txBox="1"/>
          <p:nvPr/>
        </p:nvSpPr>
        <p:spPr>
          <a:xfrm>
            <a:off x="1238250" y="4171950"/>
            <a:ext cx="257175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350" noProof="1">
                <a:solidFill>
                  <a:srgbClr val="1B2A4A"/>
                </a:solidFill>
                <a:latin typeface="Arial"/>
                <a:ea typeface="MiSans"/>
              </a:rPr>
              <a:t>Embedded Feedback</a:t>
            </a:r>
          </a:p>
        </p:txBody>
      </p:sp>
      <p:sp>
        <p:nvSpPr>
          <p:cNvPr id="21" name="dsl:card4-body"/>
          <p:cNvSpPr txBox="1"/>
          <p:nvPr/>
        </p:nvSpPr>
        <p:spPr>
          <a:xfrm>
            <a:off x="762000" y="4667250"/>
            <a:ext cx="3048000" cy="1143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200" noProof="1">
                <a:solidFill>
                  <a:srgbClr val="1F2937"/>
                </a:solidFill>
                <a:latin typeface="Arial"/>
                <a:ea typeface="MiSans"/>
              </a:rPr>
              <a:t>OLED, LED, Buzzer, Vibration Motor</a:t>
            </a:r>
          </a:p>
          <a:p>
            <a:pPr algn="l">
              <a:lnSpc>
                <a:spcPct val="150000"/>
              </a:lnSpc>
            </a:pPr>
            <a:r>
              <a:rPr sz="1200" noProof="1">
                <a:solidFill>
                  <a:srgbClr val="1F2937"/>
                </a:solidFill>
                <a:latin typeface="Arial"/>
                <a:ea typeface="MiSans"/>
              </a:rPr>
              <a:t>Multi-Channel Physical Feedback</a:t>
            </a:r>
          </a:p>
          <a:p>
            <a:pPr algn="l">
              <a:lnSpc>
                <a:spcPct val="150000"/>
              </a:lnSpc>
              <a:spcBef>
                <a:spcPts val="450"/>
              </a:spcBef>
            </a:pPr>
            <a:r>
              <a:rPr sz="1200" noProof="1">
                <a:solidFill>
                  <a:srgbClr val="5B6B82"/>
                </a:solidFill>
                <a:latin typeface="Arial"/>
                <a:ea typeface="MiSans"/>
              </a:rPr>
              <a:t>→ Course: STM32 / GPIO</a:t>
            </a:r>
          </a:p>
        </p:txBody>
      </p:sp>
      <p:sp>
        <p:nvSpPr>
          <p:cNvPr id="22" name="dsl:card5-bg"/>
          <p:cNvSpPr/>
          <p:nvPr/>
        </p:nvSpPr>
        <p:spPr>
          <a:xfrm>
            <a:off x="4381500" y="4000500"/>
            <a:ext cx="3429000" cy="2095500"/>
          </a:xfrm>
          <a:prstGeom prst="roundRect">
            <a:avLst>
              <a:gd name="adj" fmla="val 6000"/>
            </a:avLst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dsl:card5-icon|i=fas:desktop" descr="tmpvtxu82e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4191000"/>
            <a:ext cx="342900" cy="3429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24" name="dsl:card5-title"/>
          <p:cNvSpPr txBox="1"/>
          <p:nvPr/>
        </p:nvSpPr>
        <p:spPr>
          <a:xfrm>
            <a:off x="5048250" y="4171950"/>
            <a:ext cx="257175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350" noProof="1">
                <a:solidFill>
                  <a:srgbClr val="1B2A4A"/>
                </a:solidFill>
                <a:latin typeface="Arial"/>
                <a:ea typeface="MiSans"/>
              </a:rPr>
              <a:t>Qt Visualization</a:t>
            </a:r>
          </a:p>
        </p:txBody>
      </p:sp>
      <p:sp>
        <p:nvSpPr>
          <p:cNvPr id="25" name="dsl:card5-body"/>
          <p:cNvSpPr txBox="1"/>
          <p:nvPr/>
        </p:nvSpPr>
        <p:spPr>
          <a:xfrm>
            <a:off x="4572000" y="4667250"/>
            <a:ext cx="3048000" cy="1143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200" noProof="1">
                <a:solidFill>
                  <a:srgbClr val="1F2937"/>
                </a:solidFill>
                <a:latin typeface="Arial"/>
                <a:ea typeface="MiSans"/>
              </a:rPr>
              <a:t>Qt 6 Windows Control Center</a:t>
            </a:r>
          </a:p>
          <a:p>
            <a:pPr algn="l">
              <a:lnSpc>
                <a:spcPct val="150000"/>
              </a:lnSpc>
            </a:pPr>
            <a:r>
              <a:rPr sz="1200" noProof="1">
                <a:solidFill>
                  <a:srgbClr val="1F2937"/>
                </a:solidFill>
                <a:latin typeface="Arial"/>
                <a:ea typeface="MiSans"/>
              </a:rPr>
              <a:t>Real-time Chat, History, Camera</a:t>
            </a:r>
          </a:p>
          <a:p>
            <a:pPr algn="l">
              <a:lnSpc>
                <a:spcPct val="150000"/>
              </a:lnSpc>
              <a:spcBef>
                <a:spcPts val="450"/>
              </a:spcBef>
            </a:pPr>
            <a:r>
              <a:rPr sz="1200" noProof="1">
                <a:solidFill>
                  <a:srgbClr val="5B6B82"/>
                </a:solidFill>
                <a:latin typeface="Arial"/>
                <a:ea typeface="MiSans"/>
              </a:rPr>
              <a:t>→ Course: UI / Widgets</a:t>
            </a:r>
          </a:p>
        </p:txBody>
      </p:sp>
      <p:sp>
        <p:nvSpPr>
          <p:cNvPr id="26" name="dsl:card6-bg"/>
          <p:cNvSpPr/>
          <p:nvPr/>
        </p:nvSpPr>
        <p:spPr>
          <a:xfrm>
            <a:off x="8191500" y="4000500"/>
            <a:ext cx="3429000" cy="2095500"/>
          </a:xfrm>
          <a:prstGeom prst="roundRect">
            <a:avLst>
              <a:gd name="adj" fmla="val 6000"/>
            </a:avLst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dsl:card6-icon|i=fas:file-lines" descr="tmpvtxu82e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0" y="4191000"/>
            <a:ext cx="342900" cy="3429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28" name="dsl:card6-title"/>
          <p:cNvSpPr txBox="1"/>
          <p:nvPr/>
        </p:nvSpPr>
        <p:spPr>
          <a:xfrm>
            <a:off x="8858250" y="4171950"/>
            <a:ext cx="257175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350" noProof="1">
                <a:solidFill>
                  <a:srgbClr val="1B2A4A"/>
                </a:solidFill>
                <a:latin typeface="Arial"/>
                <a:ea typeface="MiSans"/>
              </a:rPr>
              <a:t>Logging</a:t>
            </a:r>
          </a:p>
        </p:txBody>
      </p:sp>
      <p:sp>
        <p:nvSpPr>
          <p:cNvPr id="29" name="dsl:card6-body"/>
          <p:cNvSpPr txBox="1"/>
          <p:nvPr/>
        </p:nvSpPr>
        <p:spPr>
          <a:xfrm>
            <a:off x="8382000" y="4667250"/>
            <a:ext cx="3048000" cy="1143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200" noProof="1">
                <a:solidFill>
                  <a:srgbClr val="1F2937"/>
                </a:solidFill>
                <a:latin typeface="Arial"/>
                <a:ea typeface="MiSans"/>
              </a:rPr>
              <a:t>Random File Read/Write Audit Log</a:t>
            </a:r>
          </a:p>
          <a:p>
            <a:pPr algn="l">
              <a:lnSpc>
                <a:spcPct val="150000"/>
              </a:lnSpc>
            </a:pPr>
            <a:r>
              <a:rPr sz="1200" noProof="1">
                <a:solidFill>
                  <a:srgbClr val="1F2937"/>
                </a:solidFill>
                <a:latin typeface="Arial"/>
                <a:ea typeface="MiSans"/>
              </a:rPr>
              <a:t>Append, Query, Update-by-ID</a:t>
            </a:r>
          </a:p>
          <a:p>
            <a:pPr algn="l">
              <a:lnSpc>
                <a:spcPct val="150000"/>
              </a:lnSpc>
              <a:spcBef>
                <a:spcPts val="450"/>
              </a:spcBef>
            </a:pPr>
            <a:r>
              <a:rPr sz="1200" noProof="1">
                <a:solidFill>
                  <a:srgbClr val="5B6B82"/>
                </a:solidFill>
                <a:latin typeface="Arial"/>
                <a:ea typeface="MiSans"/>
              </a:rPr>
              <a:t>→ Course: File I/O</a:t>
            </a:r>
          </a:p>
        </p:txBody>
      </p:sp>
      <p:sp>
        <p:nvSpPr>
          <p:cNvPr id="30" name="dsl:page-num|s=$caption"/>
          <p:cNvSpPr txBox="1"/>
          <p:nvPr/>
        </p:nvSpPr>
        <p:spPr>
          <a:xfrm>
            <a:off x="11239500" y="6572250"/>
            <a:ext cx="5715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B6B82"/>
                </a:solidFill>
                <a:latin typeface="Arial"/>
                <a:ea typeface="MiSan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nav-bar"/>
          <p:cNvSpPr/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nav-text|s=$nav"/>
          <p:cNvSpPr txBox="1"/>
          <p:nvPr/>
        </p:nvSpPr>
        <p:spPr>
          <a:xfrm>
            <a:off x="571500" y="0"/>
            <a:ext cx="38100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050" noProof="1">
                <a:solidFill>
                  <a:srgbClr val="FFFFFF"/>
                </a:solidFill>
                <a:latin typeface="Arial"/>
                <a:ea typeface="MiSans"/>
              </a:rPr>
              <a:t>01 Background &amp; Overview</a:t>
            </a:r>
          </a:p>
        </p:txBody>
      </p:sp>
      <p:sp>
        <p:nvSpPr>
          <p:cNvPr id="4" name="dsl:nav-accent"/>
          <p:cNvSpPr/>
          <p:nvPr/>
        </p:nvSpPr>
        <p:spPr>
          <a:xfrm>
            <a:off x="0" y="342900"/>
            <a:ext cx="1905000" cy="38100"/>
          </a:xfrm>
          <a:prstGeom prst="rect">
            <a:avLst/>
          </a:prstGeom>
          <a:solidFill>
            <a:srgbClr val="D49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sl:page-title|s=$title"/>
          <p:cNvSpPr txBox="1"/>
          <p:nvPr/>
        </p:nvSpPr>
        <p:spPr>
          <a:xfrm>
            <a:off x="571500" y="571500"/>
            <a:ext cx="7620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2100" noProof="1">
                <a:solidFill>
                  <a:srgbClr val="1B2A4A"/>
                </a:solidFill>
                <a:latin typeface="Arial"/>
                <a:ea typeface="MiSans"/>
              </a:rPr>
              <a:t>Hardware Composition / Hardware Composition</a:t>
            </a:r>
          </a:p>
        </p:txBody>
      </p:sp>
      <p:pic>
        <p:nvPicPr>
          <p:cNvPr id="6" name="dsl:hardware-img" descr="C:\Users\Lenovo\Documents\kimi\workspace\ai_reality_bridge\images\hardware-preview.png"/>
          <p:cNvPicPr>
            <a:picLocks noChangeAspect="1"/>
          </p:cNvPicPr>
          <p:nvPr/>
        </p:nvPicPr>
        <p:blipFill>
          <a:blip r:embed="rId2"/>
          <a:srcRect l="10604" r="10604"/>
          <a:stretch>
            <a:fillRect/>
          </a:stretch>
        </p:blipFill>
        <p:spPr>
          <a:xfrm>
            <a:off x="571500" y="1238250"/>
            <a:ext cx="6667500" cy="4762500"/>
          </a:xfrm>
          <a:prstGeom prst="roundRect">
            <a:avLst>
              <a:gd name="adj" fmla="val 6000"/>
            </a:avLst>
          </a:prstGeom>
          <a:ln>
            <a:noFill/>
          </a:ln>
          <a:effectLst/>
        </p:spPr>
      </p:pic>
      <p:sp>
        <p:nvSpPr>
          <p:cNvPr id="7" name="dsl:label1-bg"/>
          <p:cNvSpPr/>
          <p:nvPr/>
        </p:nvSpPr>
        <p:spPr>
          <a:xfrm>
            <a:off x="7620000" y="1428750"/>
            <a:ext cx="4000500" cy="571500"/>
          </a:xfrm>
          <a:prstGeom prst="roundRect">
            <a:avLst>
              <a:gd name="adj" fmla="val 8000"/>
            </a:avLst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sl:label1-dot"/>
          <p:cNvSpPr/>
          <p:nvPr/>
        </p:nvSpPr>
        <p:spPr>
          <a:xfrm>
            <a:off x="7524750" y="1543050"/>
            <a:ext cx="76200" cy="76200"/>
          </a:xfrm>
          <a:prstGeom prst="ellipse">
            <a:avLst/>
          </a:prstGeom>
          <a:solidFill>
            <a:srgbClr val="D49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dsl:label1-line"/>
          <p:cNvCxnSpPr/>
          <p:nvPr/>
        </p:nvCxnSpPr>
        <p:spPr>
          <a:xfrm>
            <a:off x="7600950" y="1581150"/>
            <a:ext cx="114300" cy="0"/>
          </a:xfrm>
          <a:prstGeom prst="straightConnector1">
            <a:avLst/>
          </a:prstGeom>
          <a:ln w="25400">
            <a:solidFill>
              <a:srgbClr val="D4943A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dsl:label1-text"/>
          <p:cNvSpPr txBox="1"/>
          <p:nvPr/>
        </p:nvSpPr>
        <p:spPr>
          <a:xfrm>
            <a:off x="7715250" y="1428750"/>
            <a:ext cx="3810000" cy="5715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b="1" sz="1200" noProof="1">
                <a:solidFill>
                  <a:srgbClr val="1F2937"/>
                </a:solidFill>
                <a:latin typeface="Arial"/>
                <a:ea typeface="MiSans"/>
              </a:rPr>
              <a:t>Raspberry Pi 5</a:t>
            </a:r>
            <a:r>
              <a:rPr sz="1200" noProof="1">
                <a:solidFill>
                  <a:srgbClr val="1F2937"/>
                </a:solidFill>
                <a:latin typeface="Arial"/>
                <a:ea typeface="MiSans"/>
              </a:rPr>
              <a:t> — Linux Host, Camera, Mic, Network, AI API</a:t>
            </a:r>
          </a:p>
        </p:txBody>
      </p:sp>
      <p:sp>
        <p:nvSpPr>
          <p:cNvPr id="11" name="dsl:label2-bg"/>
          <p:cNvSpPr/>
          <p:nvPr/>
        </p:nvSpPr>
        <p:spPr>
          <a:xfrm>
            <a:off x="7620000" y="2095500"/>
            <a:ext cx="4000500" cy="571500"/>
          </a:xfrm>
          <a:prstGeom prst="roundRect">
            <a:avLst>
              <a:gd name="adj" fmla="val 8000"/>
            </a:avLst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sl:label2-dot"/>
          <p:cNvSpPr/>
          <p:nvPr/>
        </p:nvSpPr>
        <p:spPr>
          <a:xfrm>
            <a:off x="7524750" y="2209800"/>
            <a:ext cx="76200" cy="76200"/>
          </a:xfrm>
          <a:prstGeom prst="ellipse">
            <a:avLst/>
          </a:prstGeom>
          <a:solidFill>
            <a:srgbClr val="D49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dsl:label2-line"/>
          <p:cNvCxnSpPr/>
          <p:nvPr/>
        </p:nvCxnSpPr>
        <p:spPr>
          <a:xfrm>
            <a:off x="7600950" y="2247900"/>
            <a:ext cx="114300" cy="0"/>
          </a:xfrm>
          <a:prstGeom prst="straightConnector1">
            <a:avLst/>
          </a:prstGeom>
          <a:ln w="25400">
            <a:solidFill>
              <a:srgbClr val="D4943A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dsl:label2-text"/>
          <p:cNvSpPr txBox="1"/>
          <p:nvPr/>
        </p:nvSpPr>
        <p:spPr>
          <a:xfrm>
            <a:off x="7715250" y="2095500"/>
            <a:ext cx="3810000" cy="5715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b="1" sz="1200" noProof="1">
                <a:solidFill>
                  <a:srgbClr val="1F2937"/>
                </a:solidFill>
                <a:latin typeface="Arial"/>
                <a:ea typeface="MiSans"/>
              </a:rPr>
              <a:t>NUCLEO-F446RE</a:t>
            </a:r>
            <a:r>
              <a:rPr sz="1200" noProof="1">
                <a:solidFill>
                  <a:srgbClr val="1F2937"/>
                </a:solidFill>
                <a:latin typeface="Arial"/>
                <a:ea typeface="MiSans"/>
              </a:rPr>
              <a:t> — MCU Controller, GPIO, UART, I2C</a:t>
            </a:r>
          </a:p>
        </p:txBody>
      </p:sp>
      <p:sp>
        <p:nvSpPr>
          <p:cNvPr id="15" name="dsl:label3-bg"/>
          <p:cNvSpPr/>
          <p:nvPr/>
        </p:nvSpPr>
        <p:spPr>
          <a:xfrm>
            <a:off x="7620000" y="2762250"/>
            <a:ext cx="4000500" cy="571500"/>
          </a:xfrm>
          <a:prstGeom prst="roundRect">
            <a:avLst>
              <a:gd name="adj" fmla="val 8000"/>
            </a:avLst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sl:label3-dot"/>
          <p:cNvSpPr/>
          <p:nvPr/>
        </p:nvSpPr>
        <p:spPr>
          <a:xfrm>
            <a:off x="7524750" y="2876550"/>
            <a:ext cx="76200" cy="76200"/>
          </a:xfrm>
          <a:prstGeom prst="ellipse">
            <a:avLst/>
          </a:prstGeom>
          <a:solidFill>
            <a:srgbClr val="D49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dsl:label3-line"/>
          <p:cNvCxnSpPr/>
          <p:nvPr/>
        </p:nvCxnSpPr>
        <p:spPr>
          <a:xfrm>
            <a:off x="7600950" y="2914650"/>
            <a:ext cx="114300" cy="0"/>
          </a:xfrm>
          <a:prstGeom prst="straightConnector1">
            <a:avLst/>
          </a:prstGeom>
          <a:ln w="25400">
            <a:solidFill>
              <a:srgbClr val="D4943A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dsl:label3-text"/>
          <p:cNvSpPr txBox="1"/>
          <p:nvPr/>
        </p:nvSpPr>
        <p:spPr>
          <a:xfrm>
            <a:off x="7715250" y="2762250"/>
            <a:ext cx="3810000" cy="5715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b="1" sz="1200" noProof="1">
                <a:solidFill>
                  <a:srgbClr val="1F2937"/>
                </a:solidFill>
                <a:latin typeface="Arial"/>
                <a:ea typeface="MiSans"/>
              </a:rPr>
              <a:t>C270 USB Camera</a:t>
            </a:r>
            <a:r>
              <a:rPr sz="1200" noProof="1">
                <a:solidFill>
                  <a:srgbClr val="1F2937"/>
                </a:solidFill>
                <a:latin typeface="Arial"/>
                <a:ea typeface="MiSans"/>
              </a:rPr>
              <a:t> — 1280×720 Image Capture</a:t>
            </a:r>
          </a:p>
        </p:txBody>
      </p:sp>
      <p:sp>
        <p:nvSpPr>
          <p:cNvPr id="19" name="dsl:label4-bg"/>
          <p:cNvSpPr/>
          <p:nvPr/>
        </p:nvSpPr>
        <p:spPr>
          <a:xfrm>
            <a:off x="7620000" y="3429000"/>
            <a:ext cx="4000500" cy="571500"/>
          </a:xfrm>
          <a:prstGeom prst="roundRect">
            <a:avLst>
              <a:gd name="adj" fmla="val 8000"/>
            </a:avLst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sl:label4-dot"/>
          <p:cNvSpPr/>
          <p:nvPr/>
        </p:nvSpPr>
        <p:spPr>
          <a:xfrm>
            <a:off x="7524750" y="3543300"/>
            <a:ext cx="76200" cy="76200"/>
          </a:xfrm>
          <a:prstGeom prst="ellipse">
            <a:avLst/>
          </a:prstGeom>
          <a:solidFill>
            <a:srgbClr val="D49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dsl:label4-line"/>
          <p:cNvCxnSpPr/>
          <p:nvPr/>
        </p:nvCxnSpPr>
        <p:spPr>
          <a:xfrm>
            <a:off x="7600950" y="3581400"/>
            <a:ext cx="114300" cy="0"/>
          </a:xfrm>
          <a:prstGeom prst="straightConnector1">
            <a:avLst/>
          </a:prstGeom>
          <a:ln w="25400">
            <a:solidFill>
              <a:srgbClr val="D4943A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dsl:label4-text"/>
          <p:cNvSpPr txBox="1"/>
          <p:nvPr/>
        </p:nvSpPr>
        <p:spPr>
          <a:xfrm>
            <a:off x="7715250" y="3429000"/>
            <a:ext cx="3810000" cy="5715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b="1" sz="1200" noProof="1">
                <a:solidFill>
                  <a:srgbClr val="1F2937"/>
                </a:solidFill>
                <a:latin typeface="Arial"/>
                <a:ea typeface="MiSans"/>
              </a:rPr>
              <a:t>OLED Display</a:t>
            </a:r>
            <a:r>
              <a:rPr sz="1200" noProof="1">
                <a:solidFill>
                  <a:srgbClr val="1F2937"/>
                </a:solidFill>
                <a:latin typeface="Arial"/>
                <a:ea typeface="MiSans"/>
              </a:rPr>
              <a:t> — Local Status Output (128×64)</a:t>
            </a:r>
          </a:p>
        </p:txBody>
      </p:sp>
      <p:sp>
        <p:nvSpPr>
          <p:cNvPr id="23" name="dsl:label5-bg"/>
          <p:cNvSpPr/>
          <p:nvPr/>
        </p:nvSpPr>
        <p:spPr>
          <a:xfrm>
            <a:off x="7620000" y="4095750"/>
            <a:ext cx="4000500" cy="571500"/>
          </a:xfrm>
          <a:prstGeom prst="roundRect">
            <a:avLst>
              <a:gd name="adj" fmla="val 8000"/>
            </a:avLst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sl:label5-dot"/>
          <p:cNvSpPr/>
          <p:nvPr/>
        </p:nvSpPr>
        <p:spPr>
          <a:xfrm>
            <a:off x="7524750" y="4210050"/>
            <a:ext cx="76200" cy="76200"/>
          </a:xfrm>
          <a:prstGeom prst="ellipse">
            <a:avLst/>
          </a:prstGeom>
          <a:solidFill>
            <a:srgbClr val="D49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dsl:label5-line"/>
          <p:cNvCxnSpPr/>
          <p:nvPr/>
        </p:nvCxnSpPr>
        <p:spPr>
          <a:xfrm>
            <a:off x="7600950" y="4248150"/>
            <a:ext cx="114300" cy="0"/>
          </a:xfrm>
          <a:prstGeom prst="straightConnector1">
            <a:avLst/>
          </a:prstGeom>
          <a:ln w="25400">
            <a:solidFill>
              <a:srgbClr val="D4943A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dsl:label5-text"/>
          <p:cNvSpPr txBox="1"/>
          <p:nvPr/>
        </p:nvSpPr>
        <p:spPr>
          <a:xfrm>
            <a:off x="7715250" y="4095750"/>
            <a:ext cx="3810000" cy="5715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b="1" sz="1200" noProof="1">
                <a:solidFill>
                  <a:srgbClr val="1F2937"/>
                </a:solidFill>
                <a:latin typeface="Arial"/>
                <a:ea typeface="MiSans"/>
              </a:rPr>
              <a:t>Three-Key Keyboard</a:t>
            </a:r>
            <a:r>
              <a:rPr sz="1200" noProof="1">
                <a:solidFill>
                  <a:srgbClr val="1F2937"/>
                </a:solidFill>
                <a:latin typeface="Arial"/>
                <a:ea typeface="MiSans"/>
              </a:rPr>
              <a:t> — Trigger Buttons</a:t>
            </a:r>
          </a:p>
        </p:txBody>
      </p:sp>
      <p:sp>
        <p:nvSpPr>
          <p:cNvPr id="27" name="dsl:label6-bg"/>
          <p:cNvSpPr/>
          <p:nvPr/>
        </p:nvSpPr>
        <p:spPr>
          <a:xfrm>
            <a:off x="7620000" y="4762500"/>
            <a:ext cx="4000500" cy="571500"/>
          </a:xfrm>
          <a:prstGeom prst="roundRect">
            <a:avLst>
              <a:gd name="adj" fmla="val 8000"/>
            </a:avLst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dsl:label6-dot"/>
          <p:cNvSpPr/>
          <p:nvPr/>
        </p:nvSpPr>
        <p:spPr>
          <a:xfrm>
            <a:off x="7524750" y="4876800"/>
            <a:ext cx="76200" cy="76200"/>
          </a:xfrm>
          <a:prstGeom prst="ellipse">
            <a:avLst/>
          </a:prstGeom>
          <a:solidFill>
            <a:srgbClr val="D49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dsl:label6-line"/>
          <p:cNvCxnSpPr/>
          <p:nvPr/>
        </p:nvCxnSpPr>
        <p:spPr>
          <a:xfrm>
            <a:off x="7600950" y="4914900"/>
            <a:ext cx="114300" cy="0"/>
          </a:xfrm>
          <a:prstGeom prst="straightConnector1">
            <a:avLst/>
          </a:prstGeom>
          <a:ln w="25400">
            <a:solidFill>
              <a:srgbClr val="D4943A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dsl:label6-text"/>
          <p:cNvSpPr txBox="1"/>
          <p:nvPr/>
        </p:nvSpPr>
        <p:spPr>
          <a:xfrm>
            <a:off x="7715250" y="4762500"/>
            <a:ext cx="3810000" cy="5715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b="1" sz="1200" noProof="1">
                <a:solidFill>
                  <a:srgbClr val="1F2937"/>
                </a:solidFill>
                <a:latin typeface="Arial"/>
                <a:ea typeface="MiSans"/>
              </a:rPr>
              <a:t>LED + Buzzer + Vibration</a:t>
            </a:r>
            <a:r>
              <a:rPr sz="1200" noProof="1">
                <a:solidFill>
                  <a:srgbClr val="1F2937"/>
                </a:solidFill>
                <a:latin typeface="Arial"/>
                <a:ea typeface="MiSans"/>
              </a:rPr>
              <a:t> — Multi-Modal Feedback</a:t>
            </a:r>
          </a:p>
        </p:txBody>
      </p:sp>
      <p:sp>
        <p:nvSpPr>
          <p:cNvPr id="31" name="dsl:label7-bg"/>
          <p:cNvSpPr/>
          <p:nvPr/>
        </p:nvSpPr>
        <p:spPr>
          <a:xfrm>
            <a:off x="7620000" y="5429250"/>
            <a:ext cx="4000500" cy="571500"/>
          </a:xfrm>
          <a:prstGeom prst="roundRect">
            <a:avLst>
              <a:gd name="adj" fmla="val 8000"/>
            </a:avLst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dsl:label7-dot"/>
          <p:cNvSpPr/>
          <p:nvPr/>
        </p:nvSpPr>
        <p:spPr>
          <a:xfrm>
            <a:off x="7524750" y="5543550"/>
            <a:ext cx="76200" cy="76200"/>
          </a:xfrm>
          <a:prstGeom prst="ellipse">
            <a:avLst/>
          </a:prstGeom>
          <a:solidFill>
            <a:srgbClr val="D49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dsl:label7-line"/>
          <p:cNvCxnSpPr/>
          <p:nvPr/>
        </p:nvCxnSpPr>
        <p:spPr>
          <a:xfrm>
            <a:off x="7600950" y="5581650"/>
            <a:ext cx="114300" cy="0"/>
          </a:xfrm>
          <a:prstGeom prst="straightConnector1">
            <a:avLst/>
          </a:prstGeom>
          <a:ln w="25400">
            <a:solidFill>
              <a:srgbClr val="D4943A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dsl:label7-text"/>
          <p:cNvSpPr txBox="1"/>
          <p:nvPr/>
        </p:nvSpPr>
        <p:spPr>
          <a:xfrm>
            <a:off x="7715250" y="5429250"/>
            <a:ext cx="3810000" cy="5715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b="1" sz="1200" noProof="1">
                <a:solidFill>
                  <a:srgbClr val="1F2937"/>
                </a:solidFill>
                <a:latin typeface="Arial"/>
                <a:ea typeface="MiSans"/>
              </a:rPr>
              <a:t>Windows PC</a:t>
            </a:r>
            <a:r>
              <a:rPr sz="1200" noProof="1">
                <a:solidFill>
                  <a:srgbClr val="1F2937"/>
                </a:solidFill>
                <a:latin typeface="Arial"/>
                <a:ea typeface="MiSans"/>
              </a:rPr>
              <a:t> — Qt 6 Control Center</a:t>
            </a:r>
          </a:p>
        </p:txBody>
      </p:sp>
      <p:sp>
        <p:nvSpPr>
          <p:cNvPr id="35" name="dsl:page-num|s=$caption"/>
          <p:cNvSpPr txBox="1"/>
          <p:nvPr/>
        </p:nvSpPr>
        <p:spPr>
          <a:xfrm>
            <a:off x="11239500" y="6572250"/>
            <a:ext cx="5715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B6B82"/>
                </a:solidFill>
                <a:latin typeface="Arial"/>
                <a:ea typeface="MiSan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dsl:bg-img" descr="C:\Users\Lenovo\Documents\kimi\workspace\ai_reality_bridge\images\standalone-prototype.png"/>
          <p:cNvPicPr>
            <a:picLocks noChangeAspect="1"/>
          </p:cNvPicPr>
          <p:nvPr/>
        </p:nvPicPr>
        <p:blipFill>
          <a:blip r:embed="rId2"/>
          <a:srcRect t="7812" b="78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3" name="dsl:mask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B2A4A">
                  <a:alpha val="12549"/>
                </a:srgbClr>
              </a:gs>
              <a:gs pos="50000">
                <a:srgbClr val="1B2A4A">
                  <a:alpha val="60000"/>
                </a:srgbClr>
              </a:gs>
              <a:gs pos="100000">
                <a:srgbClr val="1B2A4A">
                  <a:alpha val="90196"/>
                </a:srgbClr>
              </a:gs>
            </a:gsLst>
            <a:lin scaled="0" ang="5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ch-num"/>
          <p:cNvSpPr txBox="1"/>
          <p:nvPr/>
        </p:nvSpPr>
        <p:spPr>
          <a:xfrm>
            <a:off x="952500" y="1714500"/>
            <a:ext cx="2857500" cy="1143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7200" noProof="1">
                <a:solidFill>
                  <a:srgbClr val="D4943A"/>
                </a:solidFill>
                <a:latin typeface="Arial"/>
                <a:ea typeface="MiSans"/>
              </a:rPr>
              <a:t>02</a:t>
            </a:r>
          </a:p>
        </p:txBody>
      </p:sp>
      <p:sp>
        <p:nvSpPr>
          <p:cNvPr id="5" name="dsl:ch-title-en"/>
          <p:cNvSpPr txBox="1"/>
          <p:nvPr/>
        </p:nvSpPr>
        <p:spPr>
          <a:xfrm>
            <a:off x="952500" y="3048000"/>
            <a:ext cx="7620000" cy="52387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2700" noProof="1">
                <a:solidFill>
                  <a:srgbClr val="FFFFFF"/>
                </a:solidFill>
                <a:latin typeface="Arial"/>
                <a:ea typeface="MiSans"/>
              </a:rPr>
              <a:t>Architecture &amp; C++ Design</a:t>
            </a:r>
          </a:p>
        </p:txBody>
      </p:sp>
      <p:sp>
        <p:nvSpPr>
          <p:cNvPr id="6" name="dsl:ch-title-cn"/>
          <p:cNvSpPr txBox="1"/>
          <p:nvPr/>
        </p:nvSpPr>
        <p:spPr>
          <a:xfrm>
            <a:off x="952500" y="3667125"/>
            <a:ext cx="7620000" cy="33337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650" noProof="1">
                <a:solidFill>
                  <a:srgbClr val="FFFFFF">
                    <a:alpha val="80000"/>
                  </a:srgbClr>
                </a:solidFill>
                <a:latin typeface="Arial"/>
                <a:ea typeface="MiSans"/>
              </a:rPr>
              <a:t>Architecture &amp; C++ Design</a:t>
            </a:r>
          </a:p>
        </p:txBody>
      </p:sp>
      <p:sp>
        <p:nvSpPr>
          <p:cNvPr id="7" name="dsl:accent-line"/>
          <p:cNvSpPr/>
          <p:nvPr/>
        </p:nvSpPr>
        <p:spPr>
          <a:xfrm>
            <a:off x="952500" y="4191000"/>
            <a:ext cx="1143000" cy="38100"/>
          </a:xfrm>
          <a:prstGeom prst="rect">
            <a:avLst/>
          </a:prstGeom>
          <a:solidFill>
            <a:srgbClr val="D49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nav-bar"/>
          <p:cNvSpPr/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nav-text|s=$nav"/>
          <p:cNvSpPr txBox="1"/>
          <p:nvPr/>
        </p:nvSpPr>
        <p:spPr>
          <a:xfrm>
            <a:off x="571500" y="0"/>
            <a:ext cx="38100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050" noProof="1">
                <a:solidFill>
                  <a:srgbClr val="FFFFFF"/>
                </a:solidFill>
                <a:latin typeface="Arial"/>
                <a:ea typeface="MiSans"/>
              </a:rPr>
              <a:t>02 Architecture &amp; C++ Design</a:t>
            </a:r>
          </a:p>
        </p:txBody>
      </p:sp>
      <p:sp>
        <p:nvSpPr>
          <p:cNvPr id="4" name="dsl:nav-accent"/>
          <p:cNvSpPr/>
          <p:nvPr/>
        </p:nvSpPr>
        <p:spPr>
          <a:xfrm>
            <a:off x="0" y="342900"/>
            <a:ext cx="1905000" cy="38100"/>
          </a:xfrm>
          <a:prstGeom prst="rect">
            <a:avLst/>
          </a:prstGeom>
          <a:solidFill>
            <a:srgbClr val="D49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sl:page-title|s=$title"/>
          <p:cNvSpPr txBox="1"/>
          <p:nvPr/>
        </p:nvSpPr>
        <p:spPr>
          <a:xfrm>
            <a:off x="571500" y="571500"/>
            <a:ext cx="85725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2100" noProof="1">
                <a:solidFill>
                  <a:srgbClr val="1B2A4A"/>
                </a:solidFill>
                <a:latin typeface="Arial"/>
                <a:ea typeface="MiSans"/>
              </a:rPr>
              <a:t>Five-Layer System Architecture / Five-Layer System Architecture</a:t>
            </a:r>
          </a:p>
        </p:txBody>
      </p:sp>
      <p:sp>
        <p:nvSpPr>
          <p:cNvPr id="6" name="dsl:intro-text|s=$body"/>
          <p:cNvSpPr txBox="1"/>
          <p:nvPr/>
        </p:nvSpPr>
        <p:spPr>
          <a:xfrm>
            <a:off x="571500" y="1047750"/>
            <a:ext cx="11049000" cy="4762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50000"/>
              </a:lnSpc>
            </a:pPr>
            <a:r>
              <a:rPr sz="1200" noProof="1">
                <a:solidFill>
                  <a:srgbClr val="1F2937"/>
                </a:solidFill>
                <a:latin typeface="Arial"/>
                <a:ea typeface="MiSans"/>
              </a:rPr>
              <a:t>A five-layer decoupling design isolates UI, business logic, AI services, communication, and hardware. Each layer is implemented by corresponding C++ classes, reducing module coupling — a core C++ engineering practice.</a:t>
            </a:r>
          </a:p>
        </p:txBody>
      </p:sp>
      <p:sp>
        <p:nvSpPr>
          <p:cNvPr id="7" name="dsl:layer1-bg"/>
          <p:cNvSpPr/>
          <p:nvPr/>
        </p:nvSpPr>
        <p:spPr>
          <a:xfrm>
            <a:off x="571500" y="1666875"/>
            <a:ext cx="11049000" cy="762000"/>
          </a:xfrm>
          <a:prstGeom prst="roundRect">
            <a:avLst>
              <a:gd name="adj" fmla="val 5000"/>
            </a:avLst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sl:layer1-label"/>
          <p:cNvSpPr txBox="1"/>
          <p:nvPr/>
        </p:nvSpPr>
        <p:spPr>
          <a:xfrm>
            <a:off x="666750" y="1666875"/>
            <a:ext cx="2095500" cy="762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b="1" sz="1200" noProof="1">
                <a:solidFill>
                  <a:srgbClr val="1B2A4A"/>
                </a:solidFill>
                <a:latin typeface="Arial"/>
                <a:ea typeface="MiSans"/>
              </a:rPr>
              <a:t>Presentation</a:t>
            </a:r>
          </a:p>
          <a:p>
            <a:pPr algn="l"/>
            <a:r>
              <a:rPr sz="1200" noProof="1">
                <a:solidFill>
                  <a:srgbClr val="1B2A4A"/>
                </a:solidFill>
                <a:latin typeface="Arial"/>
                <a:ea typeface="MiSans"/>
              </a:rPr>
              <a:t>Presentation Layer</a:t>
            </a:r>
          </a:p>
        </p:txBody>
      </p:sp>
      <p:sp>
        <p:nvSpPr>
          <p:cNvPr id="9" name="dsl:layer1-detail"/>
          <p:cNvSpPr txBox="1"/>
          <p:nvPr/>
        </p:nvSpPr>
        <p:spPr>
          <a:xfrm>
            <a:off x="2857500" y="1666875"/>
            <a:ext cx="6667500" cy="762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050" noProof="1">
                <a:solidFill>
                  <a:srgbClr val="1F2937"/>
                </a:solidFill>
                <a:latin typeface="Arial"/>
                <a:ea typeface="MiSans"/>
              </a:rPr>
              <a:t>C++ Qt Widgets</a:t>
            </a:r>
            <a:r>
              <a:rPr sz="1050" noProof="1">
                <a:solidFill>
                  <a:srgbClr val="1F2937"/>
                </a:solidFill>
                <a:latin typeface="Arial"/>
                <a:ea typeface="MiSans"/>
              </a:rPr>
              <a:t> — ChatPage, HistoryPage, DiagnosePage, LogWidget</a:t>
            </a:r>
          </a:p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1F2937"/>
                </a:solidFill>
                <a:latin typeface="Arial"/>
                <a:ea typeface="MiSans"/>
              </a:rPr>
              <a:t>Qt Desktop Control: Real-time Chat, History Log, Connection Diagnosis, Camera Preview, Raw Log Output</a:t>
            </a:r>
          </a:p>
        </p:txBody>
      </p:sp>
      <p:sp>
        <p:nvSpPr>
          <p:cNvPr id="10" name="dsl:layer1-tag"/>
          <p:cNvSpPr txBox="1"/>
          <p:nvPr/>
        </p:nvSpPr>
        <p:spPr>
          <a:xfrm>
            <a:off x="9715500" y="1666875"/>
            <a:ext cx="1809750" cy="762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50000"/>
              </a:lnSpc>
            </a:pPr>
            <a:r>
              <a:rPr sz="900" noProof="1">
                <a:solidFill>
                  <a:srgbClr val="5B6B82"/>
                </a:solidFill>
                <a:latin typeface="Arial"/>
                <a:ea typeface="MiSans"/>
              </a:rPr>
              <a:t>Course Exam Point</a:t>
            </a:r>
          </a:p>
          <a:p>
            <a:pPr algn="l">
              <a:lnSpc>
                <a:spcPct val="150000"/>
              </a:lnSpc>
            </a:pPr>
            <a:r>
              <a:rPr sz="900" noProof="1">
                <a:solidFill>
                  <a:srgbClr val="5B6B82"/>
                </a:solidFill>
                <a:latin typeface="Arial"/>
                <a:ea typeface="MiSans"/>
              </a:rPr>
              <a:t>Qt GUI, Widget Encapsulation, Signal-Slot</a:t>
            </a:r>
          </a:p>
        </p:txBody>
      </p:sp>
      <p:cxnSp>
        <p:nvCxnSpPr>
          <p:cNvPr id="11" name="dsl:arrow1-down"/>
          <p:cNvCxnSpPr/>
          <p:nvPr/>
        </p:nvCxnSpPr>
        <p:spPr>
          <a:xfrm>
            <a:off x="6000750" y="2428875"/>
            <a:ext cx="190500" cy="142875"/>
          </a:xfrm>
          <a:prstGeom prst="straightConnector1">
            <a:avLst/>
          </a:prstGeom>
          <a:ln w="25400">
            <a:solidFill>
              <a:srgbClr val="D4943A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dsl:arrow1-up"/>
          <p:cNvCxnSpPr/>
          <p:nvPr/>
        </p:nvCxnSpPr>
        <p:spPr>
          <a:xfrm>
            <a:off x="6238875" y="2428875"/>
            <a:ext cx="190500" cy="142875"/>
          </a:xfrm>
          <a:prstGeom prst="straightConnector1">
            <a:avLst/>
          </a:prstGeom>
          <a:ln w="25400">
            <a:solidFill>
              <a:srgbClr val="D4943A"/>
            </a:solidFill>
            <a:prstDash val="solid"/>
            <a:head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dsl:layer2-bg"/>
          <p:cNvSpPr/>
          <p:nvPr/>
        </p:nvSpPr>
        <p:spPr>
          <a:xfrm>
            <a:off x="571500" y="2571750"/>
            <a:ext cx="11049000" cy="762000"/>
          </a:xfrm>
          <a:prstGeom prst="roundRect">
            <a:avLst>
              <a:gd name="adj" fmla="val 5000"/>
            </a:avLst>
          </a:prstGeom>
          <a:solidFill>
            <a:srgbClr val="D4D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l:layer2-label"/>
          <p:cNvSpPr txBox="1"/>
          <p:nvPr/>
        </p:nvSpPr>
        <p:spPr>
          <a:xfrm>
            <a:off x="666750" y="2571750"/>
            <a:ext cx="2095500" cy="762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b="1" sz="1200" noProof="1">
                <a:solidFill>
                  <a:srgbClr val="1B2A4A"/>
                </a:solidFill>
                <a:latin typeface="Arial"/>
                <a:ea typeface="MiSans"/>
              </a:rPr>
              <a:t>Application</a:t>
            </a:r>
          </a:p>
          <a:p>
            <a:pPr algn="l"/>
            <a:r>
              <a:rPr sz="1200" noProof="1">
                <a:solidFill>
                  <a:srgbClr val="1B2A4A"/>
                </a:solidFill>
                <a:latin typeface="Arial"/>
                <a:ea typeface="MiSans"/>
              </a:rPr>
              <a:t>Application Layer</a:t>
            </a:r>
          </a:p>
        </p:txBody>
      </p:sp>
      <p:sp>
        <p:nvSpPr>
          <p:cNvPr id="15" name="dsl:layer2-detail"/>
          <p:cNvSpPr txBox="1"/>
          <p:nvPr/>
        </p:nvSpPr>
        <p:spPr>
          <a:xfrm>
            <a:off x="2857500" y="2571750"/>
            <a:ext cx="6667500" cy="762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050" noProof="1">
                <a:solidFill>
                  <a:srgbClr val="1F2937"/>
                </a:solidFill>
                <a:latin typeface="Arial"/>
                <a:ea typeface="MiSans"/>
              </a:rPr>
              <a:t>C++ AppCore</a:t>
            </a:r>
            <a:r>
              <a:rPr sz="1050" noProof="1">
                <a:solidFill>
                  <a:srgbClr val="1F2937"/>
                </a:solidFill>
                <a:latin typeface="Arial"/>
                <a:ea typeface="MiSans"/>
              </a:rPr>
              <a:t> — AppCore, WorkflowManager</a:t>
            </a:r>
          </a:p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1F2937"/>
                </a:solidFill>
                <a:latin typeface="Arial"/>
                <a:ea typeface="MiSans"/>
              </a:rPr>
              <a:t>Global Business Scheduling: Button Trigger, Voice Capture, AI Image Analysis, Exception Fault Tolerance</a:t>
            </a:r>
          </a:p>
        </p:txBody>
      </p:sp>
      <p:sp>
        <p:nvSpPr>
          <p:cNvPr id="16" name="dsl:layer2-tag"/>
          <p:cNvSpPr txBox="1"/>
          <p:nvPr/>
        </p:nvSpPr>
        <p:spPr>
          <a:xfrm>
            <a:off x="9715500" y="2571750"/>
            <a:ext cx="1809750" cy="762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50000"/>
              </a:lnSpc>
            </a:pPr>
            <a:r>
              <a:rPr sz="900" noProof="1">
                <a:solidFill>
                  <a:srgbClr val="5B6B82"/>
                </a:solidFill>
                <a:latin typeface="Arial"/>
                <a:ea typeface="MiSans"/>
              </a:rPr>
              <a:t>Course Exam Point</a:t>
            </a:r>
          </a:p>
          <a:p>
            <a:pPr algn="l">
              <a:lnSpc>
                <a:spcPct val="150000"/>
              </a:lnSpc>
            </a:pPr>
            <a:r>
              <a:rPr sz="900" noProof="1">
                <a:solidFill>
                  <a:srgbClr val="5B6B82"/>
                </a:solidFill>
                <a:latin typeface="Arial"/>
                <a:ea typeface="MiSans"/>
              </a:rPr>
              <a:t>Class Encapsulation, State Machine, Workflow Management</a:t>
            </a:r>
          </a:p>
        </p:txBody>
      </p:sp>
      <p:cxnSp>
        <p:nvCxnSpPr>
          <p:cNvPr id="17" name="dsl:arrow2-down"/>
          <p:cNvCxnSpPr/>
          <p:nvPr/>
        </p:nvCxnSpPr>
        <p:spPr>
          <a:xfrm>
            <a:off x="6000750" y="3333750"/>
            <a:ext cx="190500" cy="142875"/>
          </a:xfrm>
          <a:prstGeom prst="straightConnector1">
            <a:avLst/>
          </a:prstGeom>
          <a:ln w="25400">
            <a:solidFill>
              <a:srgbClr val="D4943A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dsl:arrow2-up"/>
          <p:cNvCxnSpPr/>
          <p:nvPr/>
        </p:nvCxnSpPr>
        <p:spPr>
          <a:xfrm>
            <a:off x="6238875" y="3333750"/>
            <a:ext cx="190500" cy="142875"/>
          </a:xfrm>
          <a:prstGeom prst="straightConnector1">
            <a:avLst/>
          </a:prstGeom>
          <a:ln w="25400">
            <a:solidFill>
              <a:srgbClr val="D4943A"/>
            </a:solidFill>
            <a:prstDash val="solid"/>
            <a:head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dsl:layer3-bg"/>
          <p:cNvSpPr/>
          <p:nvPr/>
        </p:nvSpPr>
        <p:spPr>
          <a:xfrm>
            <a:off x="571500" y="3476625"/>
            <a:ext cx="11049000" cy="762000"/>
          </a:xfrm>
          <a:prstGeom prst="roundRect">
            <a:avLst>
              <a:gd name="adj" fmla="val 5000"/>
            </a:avLst>
          </a:prstGeom>
          <a:solidFill>
            <a:srgbClr val="B0C0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sl:layer3-label"/>
          <p:cNvSpPr txBox="1"/>
          <p:nvPr/>
        </p:nvSpPr>
        <p:spPr>
          <a:xfrm>
            <a:off x="666750" y="3476625"/>
            <a:ext cx="2095500" cy="762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b="1" sz="1200" noProof="1">
                <a:solidFill>
                  <a:srgbClr val="1B2A4A"/>
                </a:solidFill>
                <a:latin typeface="Arial"/>
                <a:ea typeface="MiSans"/>
              </a:rPr>
              <a:t>Service</a:t>
            </a:r>
          </a:p>
          <a:p>
            <a:pPr algn="l"/>
            <a:r>
              <a:rPr sz="1200" noProof="1">
                <a:solidFill>
                  <a:srgbClr val="1B2A4A"/>
                </a:solidFill>
                <a:latin typeface="Arial"/>
                <a:ea typeface="MiSans"/>
              </a:rPr>
              <a:t>Service Layer</a:t>
            </a:r>
          </a:p>
        </p:txBody>
      </p:sp>
      <p:sp>
        <p:nvSpPr>
          <p:cNvPr id="21" name="dsl:layer3-detail"/>
          <p:cNvSpPr txBox="1"/>
          <p:nvPr/>
        </p:nvSpPr>
        <p:spPr>
          <a:xfrm>
            <a:off x="2857500" y="3476625"/>
            <a:ext cx="6667500" cy="762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050" noProof="1">
                <a:solidFill>
                  <a:srgbClr val="1F2937"/>
                </a:solidFill>
                <a:latin typeface="Arial"/>
                <a:ea typeface="MiSans"/>
              </a:rPr>
              <a:t>Abstract Base + Polymorphism</a:t>
            </a:r>
            <a:r>
              <a:rPr sz="1050" noProof="1">
                <a:solidFill>
                  <a:srgbClr val="1F2937"/>
                </a:solidFill>
                <a:latin typeface="Arial"/>
                <a:ea typeface="MiSans"/>
              </a:rPr>
              <a:t> — CameraService, AiVisionService, AudioRecorder</a:t>
            </a:r>
          </a:p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1F2937"/>
                </a:solidFill>
                <a:latin typeface="Arial"/>
                <a:ea typeface="MiSans"/>
              </a:rPr>
              <a:t>Image Capture, Speech Recognition, Multimodal AI Inference Services; Seamless Real/Mock Service Switching</a:t>
            </a:r>
          </a:p>
        </p:txBody>
      </p:sp>
      <p:sp>
        <p:nvSpPr>
          <p:cNvPr id="22" name="dsl:layer3-tag"/>
          <p:cNvSpPr txBox="1"/>
          <p:nvPr/>
        </p:nvSpPr>
        <p:spPr>
          <a:xfrm>
            <a:off x="9715500" y="3476625"/>
            <a:ext cx="1809750" cy="762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50000"/>
              </a:lnSpc>
            </a:pPr>
            <a:r>
              <a:rPr sz="900" noProof="1">
                <a:solidFill>
                  <a:srgbClr val="5B6B82"/>
                </a:solidFill>
                <a:latin typeface="Arial"/>
                <a:ea typeface="MiSans"/>
              </a:rPr>
              <a:t>Course Exam Point</a:t>
            </a:r>
          </a:p>
          <a:p>
            <a:pPr algn="l">
              <a:lnSpc>
                <a:spcPct val="150000"/>
              </a:lnSpc>
            </a:pPr>
            <a:r>
              <a:rPr sz="900" noProof="1">
                <a:solidFill>
                  <a:srgbClr val="5B6B82"/>
                </a:solidFill>
                <a:latin typeface="Arial"/>
                <a:ea typeface="MiSans"/>
              </a:rPr>
              <a:t>Abstract Class, Inheritance, Polymorphism (Core)</a:t>
            </a:r>
          </a:p>
        </p:txBody>
      </p:sp>
      <p:cxnSp>
        <p:nvCxnSpPr>
          <p:cNvPr id="23" name="dsl:arrow3-down"/>
          <p:cNvCxnSpPr/>
          <p:nvPr/>
        </p:nvCxnSpPr>
        <p:spPr>
          <a:xfrm>
            <a:off x="6000750" y="4238625"/>
            <a:ext cx="190500" cy="142875"/>
          </a:xfrm>
          <a:prstGeom prst="straightConnector1">
            <a:avLst/>
          </a:prstGeom>
          <a:ln w="25400">
            <a:solidFill>
              <a:srgbClr val="D4943A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dsl:arrow3-up"/>
          <p:cNvCxnSpPr/>
          <p:nvPr/>
        </p:nvCxnSpPr>
        <p:spPr>
          <a:xfrm>
            <a:off x="6238875" y="4238625"/>
            <a:ext cx="190500" cy="142875"/>
          </a:xfrm>
          <a:prstGeom prst="straightConnector1">
            <a:avLst/>
          </a:prstGeom>
          <a:ln w="25400">
            <a:solidFill>
              <a:srgbClr val="D4943A"/>
            </a:solidFill>
            <a:prstDash val="solid"/>
            <a:head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dsl:layer4-bg"/>
          <p:cNvSpPr/>
          <p:nvPr/>
        </p:nvSpPr>
        <p:spPr>
          <a:xfrm>
            <a:off x="571500" y="4381500"/>
            <a:ext cx="11049000" cy="762000"/>
          </a:xfrm>
          <a:prstGeom prst="roundRect">
            <a:avLst>
              <a:gd name="adj" fmla="val 5000"/>
            </a:avLst>
          </a:prstGeom>
          <a:solidFill>
            <a:srgbClr val="8BA0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sl:layer4-label"/>
          <p:cNvSpPr txBox="1"/>
          <p:nvPr/>
        </p:nvSpPr>
        <p:spPr>
          <a:xfrm>
            <a:off x="666750" y="4381500"/>
            <a:ext cx="2095500" cy="762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b="1" sz="1200" noProof="1">
                <a:solidFill>
                  <a:srgbClr val="FFFFFF"/>
                </a:solidFill>
                <a:latin typeface="Arial"/>
                <a:ea typeface="MiSans"/>
              </a:rPr>
              <a:t>Communication</a:t>
            </a:r>
          </a:p>
          <a:p>
            <a:pPr algn="l"/>
            <a:r>
              <a:rPr sz="1200" noProof="1">
                <a:solidFill>
                  <a:srgbClr val="FFFFFF"/>
                </a:solidFill>
                <a:latin typeface="Arial"/>
                <a:ea typeface="MiSans"/>
              </a:rPr>
              <a:t>Communication Layer</a:t>
            </a:r>
          </a:p>
        </p:txBody>
      </p:sp>
      <p:sp>
        <p:nvSpPr>
          <p:cNvPr id="27" name="dsl:layer4-detail"/>
          <p:cNvSpPr txBox="1"/>
          <p:nvPr/>
        </p:nvSpPr>
        <p:spPr>
          <a:xfrm>
            <a:off x="2857500" y="4381500"/>
            <a:ext cx="6667500" cy="762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050" noProof="1">
                <a:solidFill>
                  <a:srgbClr val="FFFFFF"/>
                </a:solidFill>
                <a:latin typeface="Arial"/>
                <a:ea typeface="MiSans"/>
              </a:rPr>
              <a:t>C++ IO / Network</a:t>
            </a:r>
            <a:r>
              <a:rPr sz="1050" noProof="1">
                <a:solidFill>
                  <a:srgbClr val="FFFFFF"/>
                </a:solidFill>
                <a:latin typeface="Arial"/>
                <a:ea typeface="MiSans"/>
              </a:rPr>
              <a:t> — SerialPort, HardwareBridge, HttpNetworkClient, SshChecker</a:t>
            </a:r>
          </a:p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FFFFFF"/>
                </a:solidFill>
                <a:latin typeface="Arial"/>
                <a:ea typeface="MiSans"/>
              </a:rPr>
              <a:t>Serial Port STM32 Driver, HTTP Large Model API, SSH Device Status Inspection</a:t>
            </a:r>
          </a:p>
        </p:txBody>
      </p:sp>
      <p:sp>
        <p:nvSpPr>
          <p:cNvPr id="28" name="dsl:layer4-tag"/>
          <p:cNvSpPr txBox="1"/>
          <p:nvPr/>
        </p:nvSpPr>
        <p:spPr>
          <a:xfrm>
            <a:off x="9715500" y="4381500"/>
            <a:ext cx="1809750" cy="762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50000"/>
              </a:lnSpc>
            </a:pPr>
            <a:r>
              <a:rPr sz="900" noProof="1">
                <a:solidFill>
                  <a:srgbClr val="FFFFFF">
                    <a:alpha val="80000"/>
                  </a:srgbClr>
                </a:solidFill>
                <a:latin typeface="Arial"/>
                <a:ea typeface="MiSans"/>
              </a:rPr>
              <a:t>Course Exam Point</a:t>
            </a:r>
          </a:p>
          <a:p>
            <a:pPr algn="l">
              <a:lnSpc>
                <a:spcPct val="150000"/>
              </a:lnSpc>
            </a:pPr>
            <a:r>
              <a:rPr sz="900" noProof="1">
                <a:solidFill>
                  <a:srgbClr val="FFFFFF">
                    <a:alpha val="80000"/>
                  </a:srgbClr>
                </a:solidFill>
                <a:latin typeface="Arial"/>
                <a:ea typeface="MiSans"/>
              </a:rPr>
              <a:t>File I/O, Network Requests, Serial Read/Write</a:t>
            </a:r>
          </a:p>
        </p:txBody>
      </p:sp>
      <p:cxnSp>
        <p:nvCxnSpPr>
          <p:cNvPr id="29" name="dsl:arrow4-down"/>
          <p:cNvCxnSpPr/>
          <p:nvPr/>
        </p:nvCxnSpPr>
        <p:spPr>
          <a:xfrm>
            <a:off x="6000750" y="5143500"/>
            <a:ext cx="190500" cy="142875"/>
          </a:xfrm>
          <a:prstGeom prst="straightConnector1">
            <a:avLst/>
          </a:prstGeom>
          <a:ln w="25400">
            <a:solidFill>
              <a:srgbClr val="D4943A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dsl:arrow4-up"/>
          <p:cNvCxnSpPr/>
          <p:nvPr/>
        </p:nvCxnSpPr>
        <p:spPr>
          <a:xfrm>
            <a:off x="6238875" y="5143500"/>
            <a:ext cx="190500" cy="142875"/>
          </a:xfrm>
          <a:prstGeom prst="straightConnector1">
            <a:avLst/>
          </a:prstGeom>
          <a:ln w="25400">
            <a:solidFill>
              <a:srgbClr val="D4943A"/>
            </a:solidFill>
            <a:prstDash val="solid"/>
            <a:head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dsl:layer5-bg"/>
          <p:cNvSpPr/>
          <p:nvPr/>
        </p:nvSpPr>
        <p:spPr>
          <a:xfrm>
            <a:off x="571500" y="5286375"/>
            <a:ext cx="11049000" cy="762000"/>
          </a:xfrm>
          <a:prstGeom prst="roundRect">
            <a:avLst>
              <a:gd name="adj" fmla="val 5000"/>
            </a:avLst>
          </a:prstGeom>
          <a:solidFill>
            <a:srgbClr val="D49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dsl:layer5-label"/>
          <p:cNvSpPr txBox="1"/>
          <p:nvPr/>
        </p:nvSpPr>
        <p:spPr>
          <a:xfrm>
            <a:off x="666750" y="5286375"/>
            <a:ext cx="2095500" cy="762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b="1" sz="1200" noProof="1">
                <a:solidFill>
                  <a:srgbClr val="FFFFFF"/>
                </a:solidFill>
                <a:latin typeface="Arial"/>
                <a:ea typeface="MiSans"/>
              </a:rPr>
              <a:t>Hardware</a:t>
            </a:r>
          </a:p>
          <a:p>
            <a:pPr algn="l"/>
            <a:r>
              <a:rPr sz="1200" noProof="1">
                <a:solidFill>
                  <a:srgbClr val="FFFFFF"/>
                </a:solidFill>
                <a:latin typeface="Arial"/>
                <a:ea typeface="MiSans"/>
              </a:rPr>
              <a:t>Hardware Layer</a:t>
            </a:r>
          </a:p>
        </p:txBody>
      </p:sp>
      <p:sp>
        <p:nvSpPr>
          <p:cNvPr id="33" name="dsl:layer5-detail"/>
          <p:cNvSpPr txBox="1"/>
          <p:nvPr/>
        </p:nvSpPr>
        <p:spPr>
          <a:xfrm>
            <a:off x="2857500" y="5286375"/>
            <a:ext cx="6667500" cy="762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050" noProof="1">
                <a:solidFill>
                  <a:srgbClr val="FFFFFF"/>
                </a:solidFill>
                <a:latin typeface="Arial"/>
                <a:ea typeface="MiSans"/>
              </a:rPr>
              <a:t>RPi Linux C++ + STM32</a:t>
            </a:r>
            <a:r>
              <a:rPr sz="1050" noProof="1">
                <a:solidFill>
                  <a:srgbClr val="FFFFFF"/>
                </a:solidFill>
                <a:latin typeface="Arial"/>
                <a:ea typeface="MiSans"/>
              </a:rPr>
              <a:t> — Raspberry Pi 5, NUCLEO-F446RE, C270, OLED, Three-Key, LED/Buzzer/Vibration</a:t>
            </a:r>
          </a:p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FFFFFF"/>
                </a:solidFill>
                <a:latin typeface="Arial"/>
                <a:ea typeface="MiSans"/>
              </a:rPr>
              <a:t>Audio/Video Capture, Button Trigger, OLED Local Output, Audio-Visual-Vibration Hardware Feedback</a:t>
            </a:r>
          </a:p>
        </p:txBody>
      </p:sp>
      <p:sp>
        <p:nvSpPr>
          <p:cNvPr id="34" name="dsl:layer5-tag"/>
          <p:cNvSpPr txBox="1"/>
          <p:nvPr/>
        </p:nvSpPr>
        <p:spPr>
          <a:xfrm>
            <a:off x="9715500" y="5286375"/>
            <a:ext cx="1809750" cy="762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50000"/>
              </a:lnSpc>
            </a:pPr>
            <a:r>
              <a:rPr sz="900" noProof="1">
                <a:solidFill>
                  <a:srgbClr val="FFFFFF">
                    <a:alpha val="80000"/>
                  </a:srgbClr>
                </a:solidFill>
                <a:latin typeface="Arial"/>
                <a:ea typeface="MiSans"/>
              </a:rPr>
              <a:t>Course Exam Point</a:t>
            </a:r>
          </a:p>
          <a:p>
            <a:pPr algn="l">
              <a:lnSpc>
                <a:spcPct val="150000"/>
              </a:lnSpc>
            </a:pPr>
            <a:r>
              <a:rPr sz="900" noProof="1">
                <a:solidFill>
                  <a:srgbClr val="FFFFFF">
                    <a:alpha val="80000"/>
                  </a:srgbClr>
                </a:solidFill>
                <a:latin typeface="Arial"/>
                <a:ea typeface="MiSans"/>
              </a:rPr>
              <a:t>Linux Embedded, Serial Peripheral Communication</a:t>
            </a:r>
          </a:p>
        </p:txBody>
      </p:sp>
      <p:sp>
        <p:nvSpPr>
          <p:cNvPr id="35" name="dsl:page-num|s=$caption"/>
          <p:cNvSpPr txBox="1"/>
          <p:nvPr/>
        </p:nvSpPr>
        <p:spPr>
          <a:xfrm>
            <a:off x="11239500" y="6572250"/>
            <a:ext cx="5715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B6B82"/>
                </a:solidFill>
                <a:latin typeface="Arial"/>
                <a:ea typeface="MiSan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nav-bar"/>
          <p:cNvSpPr/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nav-text|s=$nav"/>
          <p:cNvSpPr txBox="1"/>
          <p:nvPr/>
        </p:nvSpPr>
        <p:spPr>
          <a:xfrm>
            <a:off x="571500" y="0"/>
            <a:ext cx="38100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050" noProof="1">
                <a:solidFill>
                  <a:srgbClr val="FFFFFF"/>
                </a:solidFill>
                <a:latin typeface="Arial"/>
                <a:ea typeface="MiSans"/>
              </a:rPr>
              <a:t>02 Architecture &amp; C++ Design</a:t>
            </a:r>
          </a:p>
        </p:txBody>
      </p:sp>
      <p:sp>
        <p:nvSpPr>
          <p:cNvPr id="4" name="dsl:nav-accent"/>
          <p:cNvSpPr/>
          <p:nvPr/>
        </p:nvSpPr>
        <p:spPr>
          <a:xfrm>
            <a:off x="0" y="342900"/>
            <a:ext cx="1905000" cy="38100"/>
          </a:xfrm>
          <a:prstGeom prst="rect">
            <a:avLst/>
          </a:prstGeom>
          <a:solidFill>
            <a:srgbClr val="D49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sl:page-title|s=$title"/>
          <p:cNvSpPr txBox="1"/>
          <p:nvPr/>
        </p:nvSpPr>
        <p:spPr>
          <a:xfrm>
            <a:off x="571500" y="571500"/>
            <a:ext cx="85725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2100" noProof="1">
                <a:solidFill>
                  <a:srgbClr val="1B2A4A"/>
                </a:solidFill>
                <a:latin typeface="Arial"/>
                <a:ea typeface="MiSans"/>
              </a:rPr>
              <a:t>Layer Code Mapping / Layer Code Mapping</a:t>
            </a:r>
          </a:p>
        </p:txBody>
      </p:sp>
      <p:sp>
        <p:nvSpPr>
          <p:cNvPr id="6" name="dsl:intro-text|s=$body"/>
          <p:cNvSpPr txBox="1"/>
          <p:nvPr/>
        </p:nvSpPr>
        <p:spPr>
          <a:xfrm>
            <a:off x="571500" y="1047750"/>
            <a:ext cx="11049000" cy="4762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50000"/>
              </a:lnSpc>
            </a:pPr>
            <a:r>
              <a:rPr sz="1200" noProof="1">
                <a:solidFill>
                  <a:srgbClr val="1F2937"/>
                </a:solidFill>
                <a:latin typeface="Arial"/>
                <a:ea typeface="MiSans"/>
              </a:rPr>
              <a:t>The five-layer architecture maps to independent code directories. Each layer encapsulates dedicated C++ classes with header/source decoupling, strictly following OOP encapsulation, inheritance, and polymorphism principles.</a:t>
            </a:r>
          </a:p>
        </p:txBody>
      </p:sp>
      <p:graphicFrame>
        <p:nvGraphicFramePr>
          <p:cNvPr id="7" name="dsl:code-table"/>
          <p:cNvGraphicFramePr>
            <a:graphicFrameLocks noGrp="1"/>
          </p:cNvGraphicFramePr>
          <p:nvPr/>
        </p:nvGraphicFramePr>
        <p:xfrm>
          <a:off x="571500" y="1619250"/>
          <a:ext cx="11048998" cy="3619500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1988819"/>
                <a:gridCol w="1988819"/>
                <a:gridCol w="3314700"/>
                <a:gridCol w="3756660"/>
              </a:tblGrid>
              <a:tr h="398145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FFFFFF"/>
                          </a:solidFill>
                          <a:latin typeface="Arial"/>
                          <a:ea typeface="MiSans"/>
                        </a:rPr>
                        <a:t>Layer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FFFFFF"/>
                          </a:solidFill>
                          <a:latin typeface="Arial"/>
                          <a:ea typeface="MiSans"/>
                        </a:rPr>
                        <a:t>Directory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FFFFFF"/>
                          </a:solidFill>
                          <a:latin typeface="Arial"/>
                          <a:ea typeface="MiSans"/>
                        </a:rPr>
                        <a:t>Core C++ Classes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FFFFFF"/>
                          </a:solidFill>
                          <a:latin typeface="Arial"/>
                          <a:ea typeface="MiSans"/>
                        </a:rPr>
                        <a:t>Key Coding Capabilities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</a:tr>
              <a:tr h="644271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1F2937"/>
                          </a:solidFill>
                          <a:latin typeface="Arial"/>
                          <a:ea typeface="MiSans"/>
                        </a:rPr>
                        <a:t>Presentation</a:t>
                      </a:r>
                    </a:p>
                    <a:p>
                      <a:pPr algn="ctr"/>
                      <a:r>
                        <a:rPr sz="1200" noProof="1" b="1">
                          <a:solidFill>
                            <a:srgbClr val="1F2937"/>
                          </a:solidFill>
                          <a:latin typeface="Arial"/>
                          <a:ea typeface="MiSans"/>
                        </a:rPr>
                        <a:t>Presentation Layer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Arial"/>
                          <a:ea typeface="MiSans"/>
                        </a:rPr>
                        <a:t>ui/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Arial"/>
                          <a:ea typeface="MiSans"/>
                        </a:rPr>
                        <a:t>ChatPage, HistoryPage, DiagnoseWidget, LogViewer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Arial"/>
                          <a:ea typeface="MiSans"/>
                        </a:rPr>
                        <a:t>Qt6 Custom Widgets, Signal-Slot, Window Paging, Real-time Image Rendering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4271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1F2937"/>
                          </a:solidFill>
                          <a:latin typeface="Arial"/>
                          <a:ea typeface="MiSans"/>
                        </a:rPr>
                        <a:t>Application</a:t>
                      </a:r>
                    </a:p>
                    <a:p>
                      <a:pPr algn="ctr"/>
                      <a:r>
                        <a:rPr sz="1200" noProof="1" b="1">
                          <a:solidFill>
                            <a:srgbClr val="1F2937"/>
                          </a:solidFill>
                          <a:latin typeface="Arial"/>
                          <a:ea typeface="MiSans"/>
                        </a:rPr>
                        <a:t>Application Layer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Arial"/>
                          <a:ea typeface="MiSans"/>
                        </a:rPr>
                        <a:t>app/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Arial"/>
                          <a:ea typeface="MiSans"/>
                        </a:rPr>
                        <a:t>AppCore, WorkflowManager, FaultHandler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Arial"/>
                          <a:ea typeface="MiSans"/>
                        </a:rPr>
                        <a:t>Business State Machine, Fault Tolerance, Multi-module Coordination, Lifecycle Management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E8EDF3"/>
                    </a:solidFill>
                  </a:tcPr>
                </a:tc>
              </a:tr>
              <a:tr h="644271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1F2937"/>
                          </a:solidFill>
                          <a:latin typeface="Arial"/>
                          <a:ea typeface="MiSans"/>
                        </a:rPr>
                        <a:t>Service</a:t>
                      </a:r>
                    </a:p>
                    <a:p>
                      <a:pPr algn="ctr"/>
                      <a:r>
                        <a:rPr sz="1200" noProof="1" b="1">
                          <a:solidFill>
                            <a:srgbClr val="1F2937"/>
                          </a:solidFill>
                          <a:latin typeface="Arial"/>
                          <a:ea typeface="MiSans"/>
                        </a:rPr>
                        <a:t>Service Layer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Arial"/>
                          <a:ea typeface="MiSans"/>
                        </a:rPr>
                        <a:t>service/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Arial"/>
                          <a:ea typeface="MiSans"/>
                        </a:rPr>
                        <a:t>CameraService, AiVisionService, AudioRecorder (abstract)</a:t>
                      </a:r>
                    </a:p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Arial"/>
                          <a:ea typeface="MiSans"/>
                        </a:rPr>
                        <a:t>OpenCvCameraService, QwenVisionService, MockAiVisionService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Arial"/>
                          <a:ea typeface="MiSans"/>
                        </a:rPr>
                        <a:t>Abstract Interface, Inheritance Override, Runtime Polymorphism, Module Hot-Swap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4271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1F2937"/>
                          </a:solidFill>
                          <a:latin typeface="Arial"/>
                          <a:ea typeface="MiSans"/>
                        </a:rPr>
                        <a:t>Communication</a:t>
                      </a:r>
                    </a:p>
                    <a:p>
                      <a:pPr algn="ctr"/>
                      <a:r>
                        <a:rPr sz="1200" noProof="1" b="1">
                          <a:solidFill>
                            <a:srgbClr val="1F2937"/>
                          </a:solidFill>
                          <a:latin typeface="Arial"/>
                          <a:ea typeface="MiSans"/>
                        </a:rPr>
                        <a:t>Communication Layer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Arial"/>
                          <a:ea typeface="MiSans"/>
                        </a:rPr>
                        <a:t>comm/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Arial"/>
                          <a:ea typeface="MiSans"/>
                        </a:rPr>
                        <a:t>SerialPort, HardwareBridge, HttpClient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Arial"/>
                          <a:ea typeface="MiSans"/>
                        </a:rPr>
                        <a:t>Binary Serial Read/Write, libcurl Network Requests, Data Pack/Unpack, IO Exception Capture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E8EDF3"/>
                    </a:solidFill>
                  </a:tcPr>
                </a:tc>
              </a:tr>
              <a:tr h="644271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1F2937"/>
                          </a:solidFill>
                          <a:latin typeface="Arial"/>
                          <a:ea typeface="MiSans"/>
                        </a:rPr>
                        <a:t>Hardware</a:t>
                      </a:r>
                    </a:p>
                    <a:p>
                      <a:pPr algn="ctr"/>
                      <a:r>
                        <a:rPr sz="1200" noProof="1" b="1">
                          <a:solidFill>
                            <a:srgbClr val="1F2937"/>
                          </a:solidFill>
                          <a:latin typeface="Arial"/>
                          <a:ea typeface="MiSans"/>
                        </a:rPr>
                        <a:t>Hardware Layer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Arial"/>
                          <a:ea typeface="MiSans"/>
                        </a:rPr>
                        <a:t>rpi_capture/ + stm32/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Arial"/>
                          <a:ea typeface="MiSans"/>
                        </a:rPr>
                        <a:t>RpiCapture, Stm32Driver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Arial"/>
                          <a:ea typeface="MiSans"/>
                        </a:rPr>
                        <a:t>Linux Low-level Device Access, Cross-device Serial Communication, Peripheral GPIO Control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dsl:bottom-box"/>
          <p:cNvSpPr/>
          <p:nvPr/>
        </p:nvSpPr>
        <p:spPr>
          <a:xfrm>
            <a:off x="571500" y="5381625"/>
            <a:ext cx="11049000" cy="952500"/>
          </a:xfrm>
          <a:prstGeom prst="roundRect">
            <a:avLst>
              <a:gd name="adj" fmla="val 6000"/>
            </a:avLst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sl:bottom-title"/>
          <p:cNvSpPr txBox="1"/>
          <p:nvPr/>
        </p:nvSpPr>
        <p:spPr>
          <a:xfrm>
            <a:off x="762000" y="5429250"/>
            <a:ext cx="2857500" cy="2667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200" noProof="1">
                <a:solidFill>
                  <a:srgbClr val="1B2A4A"/>
                </a:solidFill>
                <a:latin typeface="Arial"/>
                <a:ea typeface="MiSans"/>
              </a:rPr>
              <a:t>Engineering Code Standards</a:t>
            </a:r>
          </a:p>
        </p:txBody>
      </p:sp>
      <p:sp>
        <p:nvSpPr>
          <p:cNvPr id="10" name="dsl:bottom-text"/>
          <p:cNvSpPr txBox="1"/>
          <p:nvPr/>
        </p:nvSpPr>
        <p:spPr>
          <a:xfrm>
            <a:off x="762000" y="5715000"/>
            <a:ext cx="10668000" cy="52387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1F2937"/>
                </a:solidFill>
                <a:latin typeface="Arial"/>
                <a:ea typeface="MiSans"/>
              </a:rPr>
              <a:t>• Header (.h) declares classes/interfaces, Source (.cpp) implements logic, compilation decoupled. • All services depend on abstract base classes, not concrete implementations, conforming to the Open-Closed Principle.</a:t>
            </a:r>
          </a:p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1F2937"/>
                </a:solidFill>
                <a:latin typeface="Arial"/>
                <a:ea typeface="MiSans"/>
              </a:rPr>
              <a:t>• Unified exception capture mechanism, custom exception classes per layer, hierarchical fault reporting. • AuditLogStore independently encapsulated, globally called, fulfilling the course random file I/O requirement.</a:t>
            </a:r>
          </a:p>
        </p:txBody>
      </p:sp>
      <p:sp>
        <p:nvSpPr>
          <p:cNvPr id="11" name="dsl:page-num|s=$caption"/>
          <p:cNvSpPr txBox="1"/>
          <p:nvPr/>
        </p:nvSpPr>
        <p:spPr>
          <a:xfrm>
            <a:off x="11239500" y="6572250"/>
            <a:ext cx="5715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B6B82"/>
                </a:solidFill>
                <a:latin typeface="Arial"/>
                <a:ea typeface="MiSan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nav-bar"/>
          <p:cNvSpPr/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nav-text|s=$nav"/>
          <p:cNvSpPr txBox="1"/>
          <p:nvPr/>
        </p:nvSpPr>
        <p:spPr>
          <a:xfrm>
            <a:off x="571500" y="0"/>
            <a:ext cx="38100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050" noProof="1">
                <a:solidFill>
                  <a:srgbClr val="FFFFFF"/>
                </a:solidFill>
                <a:latin typeface="Arial"/>
                <a:ea typeface="MiSans"/>
              </a:rPr>
              <a:t>02 Architecture &amp; C++ Design</a:t>
            </a:r>
          </a:p>
        </p:txBody>
      </p:sp>
      <p:sp>
        <p:nvSpPr>
          <p:cNvPr id="4" name="dsl:nav-accent"/>
          <p:cNvSpPr/>
          <p:nvPr/>
        </p:nvSpPr>
        <p:spPr>
          <a:xfrm>
            <a:off x="0" y="342900"/>
            <a:ext cx="1905000" cy="38100"/>
          </a:xfrm>
          <a:prstGeom prst="rect">
            <a:avLst/>
          </a:prstGeom>
          <a:solidFill>
            <a:srgbClr val="D49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sl:page-title|s=$title"/>
          <p:cNvSpPr txBox="1"/>
          <p:nvPr/>
        </p:nvSpPr>
        <p:spPr>
          <a:xfrm>
            <a:off x="571500" y="571500"/>
            <a:ext cx="85725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2100" noProof="1">
                <a:solidFill>
                  <a:srgbClr val="1B2A4A"/>
                </a:solidFill>
                <a:latin typeface="Arial"/>
                <a:ea typeface="MiSans"/>
              </a:rPr>
              <a:t>Closed-Loop Data Flow / Closed-Loop Data Flow</a:t>
            </a:r>
          </a:p>
        </p:txBody>
      </p:sp>
      <p:sp>
        <p:nvSpPr>
          <p:cNvPr id="6" name="dsl:intro-text|s=$body"/>
          <p:cNvSpPr txBox="1"/>
          <p:nvPr/>
        </p:nvSpPr>
        <p:spPr>
          <a:xfrm>
            <a:off x="571500" y="1047750"/>
            <a:ext cx="11049000" cy="4762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50000"/>
              </a:lnSpc>
            </a:pPr>
            <a:r>
              <a:rPr sz="1200" noProof="1">
                <a:solidFill>
                  <a:srgbClr val="1F2937"/>
                </a:solidFill>
                <a:latin typeface="Arial"/>
                <a:ea typeface="MiSans"/>
              </a:rPr>
              <a:t>The five-layer architecture supports bidirectional data flow. Upper layers send control commands to lower-layer hardware; hardware collects data and device status, feeding back up to the Qt interface, forming a complete hands-free AI interaction closed loop.</a:t>
            </a:r>
          </a:p>
        </p:txBody>
      </p:sp>
      <p:sp>
        <p:nvSpPr>
          <p:cNvPr id="7" name="dsl:flow1-title"/>
          <p:cNvSpPr txBox="1"/>
          <p:nvPr/>
        </p:nvSpPr>
        <p:spPr>
          <a:xfrm>
            <a:off x="571500" y="1619250"/>
            <a:ext cx="4762500" cy="2667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350" noProof="1">
                <a:solidFill>
                  <a:srgbClr val="1B2A4A"/>
                </a:solidFill>
                <a:latin typeface="Arial"/>
                <a:ea typeface="MiSans"/>
              </a:rPr>
              <a:t>Flow 1: Downward Command / Downward Command Flow</a:t>
            </a:r>
          </a:p>
        </p:txBody>
      </p:sp>
      <p:sp>
        <p:nvSpPr>
          <p:cNvPr id="8" name="dsl:flow1-line"/>
          <p:cNvSpPr/>
          <p:nvPr/>
        </p:nvSpPr>
        <p:spPr>
          <a:xfrm>
            <a:off x="571500" y="1924050"/>
            <a:ext cx="11049000" cy="9525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sl:f1-box1"/>
          <p:cNvSpPr/>
          <p:nvPr/>
        </p:nvSpPr>
        <p:spPr>
          <a:xfrm>
            <a:off x="571500" y="2095500"/>
            <a:ext cx="1809750" cy="57150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f1-box1-text"/>
          <p:cNvSpPr txBox="1"/>
          <p:nvPr/>
        </p:nvSpPr>
        <p:spPr>
          <a:xfrm>
            <a:off x="571500" y="2095500"/>
            <a:ext cx="1809750" cy="5715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b="1" sz="1050" noProof="1">
                <a:solidFill>
                  <a:srgbClr val="FFFFFF"/>
                </a:solidFill>
                <a:latin typeface="Arial"/>
                <a:ea typeface="MiSans"/>
              </a:rPr>
              <a:t>Qt Interface</a:t>
            </a:r>
          </a:p>
          <a:p>
            <a:pPr algn="ctr"/>
            <a:r>
              <a:rPr sz="1050" noProof="1">
                <a:solidFill>
                  <a:srgbClr val="FFFFFF"/>
                </a:solidFill>
                <a:latin typeface="Arial"/>
                <a:ea typeface="MiSans"/>
              </a:rPr>
              <a:t>Issue Start Command</a:t>
            </a:r>
          </a:p>
        </p:txBody>
      </p:sp>
      <p:cxnSp>
        <p:nvCxnSpPr>
          <p:cNvPr id="11" name="dsl:f1-arrow1"/>
          <p:cNvCxnSpPr/>
          <p:nvPr/>
        </p:nvCxnSpPr>
        <p:spPr>
          <a:xfrm>
            <a:off x="2381250" y="2381250"/>
            <a:ext cx="285750" cy="0"/>
          </a:xfrm>
          <a:prstGeom prst="straightConnector1">
            <a:avLst/>
          </a:prstGeom>
          <a:ln w="25400">
            <a:solidFill>
              <a:srgbClr val="D4943A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dsl:f1-box2"/>
          <p:cNvSpPr/>
          <p:nvPr/>
        </p:nvSpPr>
        <p:spPr>
          <a:xfrm>
            <a:off x="2667000" y="2095500"/>
            <a:ext cx="1809750" cy="571500"/>
          </a:xfrm>
          <a:prstGeom prst="roundRect">
            <a:avLst>
              <a:gd name="adj" fmla="val 8000"/>
            </a:avLst>
          </a:prstGeom>
          <a:solidFill>
            <a:srgbClr val="2A3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sl:f1-box2-text"/>
          <p:cNvSpPr txBox="1"/>
          <p:nvPr/>
        </p:nvSpPr>
        <p:spPr>
          <a:xfrm>
            <a:off x="2667000" y="2095500"/>
            <a:ext cx="1809750" cy="5715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b="1" sz="1050" noProof="1">
                <a:solidFill>
                  <a:srgbClr val="FFFFFF"/>
                </a:solidFill>
                <a:latin typeface="Arial"/>
                <a:ea typeface="MiSans"/>
              </a:rPr>
              <a:t>AppCore</a:t>
            </a:r>
          </a:p>
          <a:p>
            <a:pPr algn="ctr"/>
            <a:r>
              <a:rPr sz="1050" noProof="1">
                <a:solidFill>
                  <a:srgbClr val="FFFFFF"/>
                </a:solidFill>
                <a:latin typeface="Arial"/>
                <a:ea typeface="MiSans"/>
              </a:rPr>
              <a:t>Schedule Workflow</a:t>
            </a:r>
          </a:p>
        </p:txBody>
      </p:sp>
      <p:cxnSp>
        <p:nvCxnSpPr>
          <p:cNvPr id="14" name="dsl:f1-arrow2"/>
          <p:cNvCxnSpPr/>
          <p:nvPr/>
        </p:nvCxnSpPr>
        <p:spPr>
          <a:xfrm>
            <a:off x="4476750" y="2381250"/>
            <a:ext cx="285750" cy="0"/>
          </a:xfrm>
          <a:prstGeom prst="straightConnector1">
            <a:avLst/>
          </a:prstGeom>
          <a:ln w="25400">
            <a:solidFill>
              <a:srgbClr val="D4943A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dsl:f1-box3"/>
          <p:cNvSpPr/>
          <p:nvPr/>
        </p:nvSpPr>
        <p:spPr>
          <a:xfrm>
            <a:off x="4762500" y="2095500"/>
            <a:ext cx="1809750" cy="571500"/>
          </a:xfrm>
          <a:prstGeom prst="roundRect">
            <a:avLst>
              <a:gd name="adj" fmla="val 8000"/>
            </a:avLst>
          </a:prstGeom>
          <a:solidFill>
            <a:srgbClr val="3A5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sl:f1-box3-text"/>
          <p:cNvSpPr txBox="1"/>
          <p:nvPr/>
        </p:nvSpPr>
        <p:spPr>
          <a:xfrm>
            <a:off x="4762500" y="2095500"/>
            <a:ext cx="1809750" cy="5715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b="1" sz="1050" noProof="1">
                <a:solidFill>
                  <a:srgbClr val="FFFFFF"/>
                </a:solidFill>
                <a:latin typeface="Arial"/>
                <a:ea typeface="MiSans"/>
              </a:rPr>
              <a:t>Service Layer</a:t>
            </a:r>
          </a:p>
          <a:p>
            <a:pPr algn="ctr"/>
            <a:r>
              <a:rPr sz="1050" noProof="1">
                <a:solidFill>
                  <a:srgbClr val="FFFFFF"/>
                </a:solidFill>
                <a:latin typeface="Arial"/>
                <a:ea typeface="MiSans"/>
              </a:rPr>
              <a:t>Recording/Capture/Inference</a:t>
            </a:r>
          </a:p>
        </p:txBody>
      </p:sp>
      <p:cxnSp>
        <p:nvCxnSpPr>
          <p:cNvPr id="17" name="dsl:f1-arrow3"/>
          <p:cNvCxnSpPr/>
          <p:nvPr/>
        </p:nvCxnSpPr>
        <p:spPr>
          <a:xfrm>
            <a:off x="6572250" y="2381250"/>
            <a:ext cx="285750" cy="0"/>
          </a:xfrm>
          <a:prstGeom prst="straightConnector1">
            <a:avLst/>
          </a:prstGeom>
          <a:ln w="25400">
            <a:solidFill>
              <a:srgbClr val="D4943A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dsl:f1-box4"/>
          <p:cNvSpPr/>
          <p:nvPr/>
        </p:nvSpPr>
        <p:spPr>
          <a:xfrm>
            <a:off x="6858000" y="2095500"/>
            <a:ext cx="1809750" cy="571500"/>
          </a:xfrm>
          <a:prstGeom prst="roundRect">
            <a:avLst>
              <a:gd name="adj" fmla="val 8000"/>
            </a:avLst>
          </a:prstGeom>
          <a:solidFill>
            <a:srgbClr val="4A6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sl:f1-box4-text"/>
          <p:cNvSpPr txBox="1"/>
          <p:nvPr/>
        </p:nvSpPr>
        <p:spPr>
          <a:xfrm>
            <a:off x="6858000" y="2095500"/>
            <a:ext cx="1809750" cy="5715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b="1" sz="1050" noProof="1">
                <a:solidFill>
                  <a:srgbClr val="FFFFFF"/>
                </a:solidFill>
                <a:latin typeface="Arial"/>
                <a:ea typeface="MiSans"/>
              </a:rPr>
              <a:t>Communication</a:t>
            </a:r>
          </a:p>
          <a:p>
            <a:pPr algn="ctr"/>
            <a:r>
              <a:rPr sz="1050" noProof="1">
                <a:solidFill>
                  <a:srgbClr val="FFFFFF"/>
                </a:solidFill>
                <a:latin typeface="Arial"/>
                <a:ea typeface="MiSans"/>
              </a:rPr>
              <a:t>Serial/HTTP Dispatch</a:t>
            </a:r>
          </a:p>
        </p:txBody>
      </p:sp>
      <p:cxnSp>
        <p:nvCxnSpPr>
          <p:cNvPr id="20" name="dsl:f1-arrow4"/>
          <p:cNvCxnSpPr/>
          <p:nvPr/>
        </p:nvCxnSpPr>
        <p:spPr>
          <a:xfrm>
            <a:off x="8667750" y="2381250"/>
            <a:ext cx="285750" cy="0"/>
          </a:xfrm>
          <a:prstGeom prst="straightConnector1">
            <a:avLst/>
          </a:prstGeom>
          <a:ln w="25400">
            <a:solidFill>
              <a:srgbClr val="D4943A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dsl:f1-box5"/>
          <p:cNvSpPr/>
          <p:nvPr/>
        </p:nvSpPr>
        <p:spPr>
          <a:xfrm>
            <a:off x="8953500" y="2095500"/>
            <a:ext cx="1809750" cy="571500"/>
          </a:xfrm>
          <a:prstGeom prst="roundRect">
            <a:avLst>
              <a:gd name="adj" fmla="val 8000"/>
            </a:avLst>
          </a:prstGeom>
          <a:solidFill>
            <a:srgbClr val="D49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sl:f1-box5-text"/>
          <p:cNvSpPr txBox="1"/>
          <p:nvPr/>
        </p:nvSpPr>
        <p:spPr>
          <a:xfrm>
            <a:off x="8953500" y="2095500"/>
            <a:ext cx="1809750" cy="5715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b="1" sz="1050" noProof="1">
                <a:solidFill>
                  <a:srgbClr val="FFFFFF"/>
                </a:solidFill>
                <a:latin typeface="Arial"/>
                <a:ea typeface="MiSans"/>
              </a:rPr>
              <a:t>Hardware</a:t>
            </a:r>
          </a:p>
          <a:p>
            <a:pPr algn="ctr"/>
            <a:r>
              <a:rPr sz="1050" noProof="1">
                <a:solidFill>
                  <a:srgbClr val="FFFFFF"/>
                </a:solidFill>
                <a:latin typeface="Arial"/>
                <a:ea typeface="MiSans"/>
              </a:rPr>
              <a:t>Button/OLED/Audio-Visual</a:t>
            </a:r>
          </a:p>
        </p:txBody>
      </p:sp>
      <p:sp>
        <p:nvSpPr>
          <p:cNvPr id="23" name="dsl:flow2-title"/>
          <p:cNvSpPr txBox="1"/>
          <p:nvPr/>
        </p:nvSpPr>
        <p:spPr>
          <a:xfrm>
            <a:off x="571500" y="2952750"/>
            <a:ext cx="4762500" cy="2667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350" noProof="1">
                <a:solidFill>
                  <a:srgbClr val="1B2A4A"/>
                </a:solidFill>
                <a:latin typeface="Arial"/>
                <a:ea typeface="MiSans"/>
              </a:rPr>
              <a:t>Flow 2: Upward Data / Upward Data Reflow</a:t>
            </a:r>
          </a:p>
        </p:txBody>
      </p:sp>
      <p:sp>
        <p:nvSpPr>
          <p:cNvPr id="24" name="dsl:flow2-line"/>
          <p:cNvSpPr/>
          <p:nvPr/>
        </p:nvSpPr>
        <p:spPr>
          <a:xfrm>
            <a:off x="571500" y="3257550"/>
            <a:ext cx="11049000" cy="9525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sl:f2-box1"/>
          <p:cNvSpPr/>
          <p:nvPr/>
        </p:nvSpPr>
        <p:spPr>
          <a:xfrm>
            <a:off x="571500" y="3429000"/>
            <a:ext cx="1809750" cy="571500"/>
          </a:xfrm>
          <a:prstGeom prst="roundRect">
            <a:avLst>
              <a:gd name="adj" fmla="val 8000"/>
            </a:avLst>
          </a:prstGeom>
          <a:solidFill>
            <a:srgbClr val="D49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sl:f2-box1-text"/>
          <p:cNvSpPr txBox="1"/>
          <p:nvPr/>
        </p:nvSpPr>
        <p:spPr>
          <a:xfrm>
            <a:off x="571500" y="3429000"/>
            <a:ext cx="1809750" cy="5715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b="1" sz="1050" noProof="1">
                <a:solidFill>
                  <a:srgbClr val="FFFFFF"/>
                </a:solidFill>
                <a:latin typeface="Arial"/>
                <a:ea typeface="MiSans"/>
              </a:rPr>
              <a:t>Hardware</a:t>
            </a:r>
          </a:p>
          <a:p>
            <a:pPr algn="ctr"/>
            <a:r>
              <a:rPr sz="1050" noProof="1">
                <a:solidFill>
                  <a:srgbClr val="FFFFFF"/>
                </a:solidFill>
                <a:latin typeface="Arial"/>
                <a:ea typeface="MiSans"/>
              </a:rPr>
              <a:t>Image/Voice/Status</a:t>
            </a:r>
          </a:p>
        </p:txBody>
      </p:sp>
      <p:cxnSp>
        <p:nvCxnSpPr>
          <p:cNvPr id="27" name="dsl:f2-arrow1"/>
          <p:cNvCxnSpPr/>
          <p:nvPr/>
        </p:nvCxnSpPr>
        <p:spPr>
          <a:xfrm>
            <a:off x="2381250" y="3714750"/>
            <a:ext cx="285750" cy="0"/>
          </a:xfrm>
          <a:prstGeom prst="straightConnector1">
            <a:avLst/>
          </a:prstGeom>
          <a:ln w="25400">
            <a:solidFill>
              <a:srgbClr val="D4943A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dsl:f2-box2"/>
          <p:cNvSpPr/>
          <p:nvPr/>
        </p:nvSpPr>
        <p:spPr>
          <a:xfrm>
            <a:off x="2667000" y="3429000"/>
            <a:ext cx="1809750" cy="571500"/>
          </a:xfrm>
          <a:prstGeom prst="roundRect">
            <a:avLst>
              <a:gd name="adj" fmla="val 8000"/>
            </a:avLst>
          </a:prstGeom>
          <a:solidFill>
            <a:srgbClr val="4A6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dsl:f2-box2-text"/>
          <p:cNvSpPr txBox="1"/>
          <p:nvPr/>
        </p:nvSpPr>
        <p:spPr>
          <a:xfrm>
            <a:off x="2667000" y="3429000"/>
            <a:ext cx="1809750" cy="5715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b="1" sz="1050" noProof="1">
                <a:solidFill>
                  <a:srgbClr val="FFFFFF"/>
                </a:solidFill>
                <a:latin typeface="Arial"/>
                <a:ea typeface="MiSans"/>
              </a:rPr>
              <a:t>Communication</a:t>
            </a:r>
          </a:p>
          <a:p>
            <a:pPr algn="ctr"/>
            <a:r>
              <a:rPr sz="1050" noProof="1">
                <a:solidFill>
                  <a:srgbClr val="FFFFFF"/>
                </a:solidFill>
                <a:latin typeface="Arial"/>
                <a:ea typeface="MiSans"/>
              </a:rPr>
              <a:t>Data Encapsulation Upload</a:t>
            </a:r>
          </a:p>
        </p:txBody>
      </p:sp>
      <p:cxnSp>
        <p:nvCxnSpPr>
          <p:cNvPr id="30" name="dsl:f2-arrow2"/>
          <p:cNvCxnSpPr/>
          <p:nvPr/>
        </p:nvCxnSpPr>
        <p:spPr>
          <a:xfrm>
            <a:off x="4476750" y="3714750"/>
            <a:ext cx="285750" cy="0"/>
          </a:xfrm>
          <a:prstGeom prst="straightConnector1">
            <a:avLst/>
          </a:prstGeom>
          <a:ln w="25400">
            <a:solidFill>
              <a:srgbClr val="D4943A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dsl:f2-box3"/>
          <p:cNvSpPr/>
          <p:nvPr/>
        </p:nvSpPr>
        <p:spPr>
          <a:xfrm>
            <a:off x="4762500" y="3429000"/>
            <a:ext cx="1809750" cy="571500"/>
          </a:xfrm>
          <a:prstGeom prst="roundRect">
            <a:avLst>
              <a:gd name="adj" fmla="val 8000"/>
            </a:avLst>
          </a:prstGeom>
          <a:solidFill>
            <a:srgbClr val="3A5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dsl:f2-box3-text"/>
          <p:cNvSpPr txBox="1"/>
          <p:nvPr/>
        </p:nvSpPr>
        <p:spPr>
          <a:xfrm>
            <a:off x="4762500" y="3429000"/>
            <a:ext cx="1809750" cy="5715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b="1" sz="1050" noProof="1">
                <a:solidFill>
                  <a:srgbClr val="FFFFFF"/>
                </a:solidFill>
                <a:latin typeface="Arial"/>
                <a:ea typeface="MiSans"/>
              </a:rPr>
              <a:t>Service Layer</a:t>
            </a:r>
          </a:p>
          <a:p>
            <a:pPr algn="ctr"/>
            <a:r>
              <a:rPr sz="1050" noProof="1">
                <a:solidFill>
                  <a:srgbClr val="FFFFFF"/>
                </a:solidFill>
                <a:latin typeface="Arial"/>
                <a:ea typeface="MiSans"/>
              </a:rPr>
              <a:t>ASR / Qwen-VL</a:t>
            </a:r>
          </a:p>
        </p:txBody>
      </p:sp>
      <p:cxnSp>
        <p:nvCxnSpPr>
          <p:cNvPr id="33" name="dsl:f2-arrow3"/>
          <p:cNvCxnSpPr/>
          <p:nvPr/>
        </p:nvCxnSpPr>
        <p:spPr>
          <a:xfrm>
            <a:off x="6572250" y="3714750"/>
            <a:ext cx="285750" cy="0"/>
          </a:xfrm>
          <a:prstGeom prst="straightConnector1">
            <a:avLst/>
          </a:prstGeom>
          <a:ln w="25400">
            <a:solidFill>
              <a:srgbClr val="D4943A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dsl:f2-box4"/>
          <p:cNvSpPr/>
          <p:nvPr/>
        </p:nvSpPr>
        <p:spPr>
          <a:xfrm>
            <a:off x="6858000" y="3429000"/>
            <a:ext cx="1809750" cy="571500"/>
          </a:xfrm>
          <a:prstGeom prst="roundRect">
            <a:avLst>
              <a:gd name="adj" fmla="val 8000"/>
            </a:avLst>
          </a:prstGeom>
          <a:solidFill>
            <a:srgbClr val="2A3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dsl:f2-box4-text"/>
          <p:cNvSpPr txBox="1"/>
          <p:nvPr/>
        </p:nvSpPr>
        <p:spPr>
          <a:xfrm>
            <a:off x="6858000" y="3429000"/>
            <a:ext cx="1809750" cy="5715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b="1" sz="1050" noProof="1">
                <a:solidFill>
                  <a:srgbClr val="FFFFFF"/>
                </a:solidFill>
                <a:latin typeface="Arial"/>
                <a:ea typeface="MiSans"/>
              </a:rPr>
              <a:t>AppCore</a:t>
            </a:r>
          </a:p>
          <a:p>
            <a:pPr algn="ctr"/>
            <a:r>
              <a:rPr sz="1050" noProof="1">
                <a:solidFill>
                  <a:srgbClr val="FFFFFF"/>
                </a:solidFill>
                <a:latin typeface="Arial"/>
                <a:ea typeface="MiSans"/>
              </a:rPr>
              <a:t>Integrate Results/Faults</a:t>
            </a:r>
          </a:p>
        </p:txBody>
      </p:sp>
      <p:cxnSp>
        <p:nvCxnSpPr>
          <p:cNvPr id="36" name="dsl:f2-arrow4"/>
          <p:cNvCxnSpPr/>
          <p:nvPr/>
        </p:nvCxnSpPr>
        <p:spPr>
          <a:xfrm>
            <a:off x="8667750" y="3714750"/>
            <a:ext cx="285750" cy="0"/>
          </a:xfrm>
          <a:prstGeom prst="straightConnector1">
            <a:avLst/>
          </a:prstGeom>
          <a:ln w="25400">
            <a:solidFill>
              <a:srgbClr val="D4943A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dsl:f2-box5"/>
          <p:cNvSpPr/>
          <p:nvPr/>
        </p:nvSpPr>
        <p:spPr>
          <a:xfrm>
            <a:off x="8953500" y="3429000"/>
            <a:ext cx="1809750" cy="57150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dsl:f2-box5-text"/>
          <p:cNvSpPr txBox="1"/>
          <p:nvPr/>
        </p:nvSpPr>
        <p:spPr>
          <a:xfrm>
            <a:off x="8953500" y="3429000"/>
            <a:ext cx="1809750" cy="5715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b="1" sz="1050" noProof="1">
                <a:solidFill>
                  <a:srgbClr val="FFFFFF"/>
                </a:solidFill>
                <a:latin typeface="Arial"/>
                <a:ea typeface="MiSans"/>
              </a:rPr>
              <a:t>Qt Interface</a:t>
            </a:r>
          </a:p>
          <a:p>
            <a:pPr algn="ctr"/>
            <a:r>
              <a:rPr sz="1050" noProof="1">
                <a:solidFill>
                  <a:srgbClr val="FFFFFF"/>
                </a:solidFill>
                <a:latin typeface="Arial"/>
                <a:ea typeface="MiSans"/>
              </a:rPr>
              <a:t>Real-time Interface Refresh</a:t>
            </a:r>
          </a:p>
        </p:txBody>
      </p:sp>
      <p:sp>
        <p:nvSpPr>
          <p:cNvPr id="39" name="dsl:fault-title"/>
          <p:cNvSpPr txBox="1"/>
          <p:nvPr/>
        </p:nvSpPr>
        <p:spPr>
          <a:xfrm>
            <a:off x="571500" y="4286250"/>
            <a:ext cx="4762500" cy="2667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350" noProof="1">
                <a:solidFill>
                  <a:srgbClr val="1B2A4A"/>
                </a:solidFill>
                <a:latin typeface="Arial"/>
                <a:ea typeface="MiSans"/>
              </a:rPr>
              <a:t>Fault Tolerance / Exception Data Flow</a:t>
            </a:r>
          </a:p>
        </p:txBody>
      </p:sp>
      <p:sp>
        <p:nvSpPr>
          <p:cNvPr id="40" name="dsl:fault-line"/>
          <p:cNvSpPr/>
          <p:nvPr/>
        </p:nvSpPr>
        <p:spPr>
          <a:xfrm>
            <a:off x="571500" y="4591050"/>
            <a:ext cx="11049000" cy="9525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dsl:fault-text|s=$body"/>
          <p:cNvSpPr txBox="1"/>
          <p:nvPr/>
        </p:nvSpPr>
        <p:spPr>
          <a:xfrm>
            <a:off x="571500" y="4714875"/>
            <a:ext cx="11049000" cy="6667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1200" noProof="1">
                <a:solidFill>
                  <a:srgbClr val="1F2937"/>
                </a:solidFill>
                <a:latin typeface="Arial"/>
                <a:ea typeface="MiSans"/>
              </a:rPr>
              <a:t>When devices are offline, network times out, or AI recognition fails, lower-layer hardware reports fault codes, passed upward layer by layer. Qt interface pops up alerts and OLED synchronously reports errors, fully demonstrating system robustness.</a:t>
            </a:r>
          </a:p>
          <a:p>
            <a:pPr algn="l">
              <a:lnSpc>
                <a:spcPct val="160000"/>
              </a:lnSpc>
            </a:pPr>
            <a:r>
              <a:rPr sz="1200" noProof="1">
                <a:solidFill>
                  <a:srgbClr val="5B6B82"/>
                </a:solidFill>
                <a:latin typeface="Arial"/>
                <a:ea typeface="MiSans"/>
              </a:rPr>
              <a:t>This bidirectional logic relies on C++ SerialPort and HttpClient, covering course File I/O and Network Programming requirements.</a:t>
            </a:r>
          </a:p>
        </p:txBody>
      </p:sp>
      <p:sp>
        <p:nvSpPr>
          <p:cNvPr id="42" name="dsl:page-num|s=$caption"/>
          <p:cNvSpPr txBox="1"/>
          <p:nvPr/>
        </p:nvSpPr>
        <p:spPr>
          <a:xfrm>
            <a:off x="11239500" y="6572250"/>
            <a:ext cx="5715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B6B82"/>
                </a:solidFill>
                <a:latin typeface="Arial"/>
                <a:ea typeface="MiSan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nav-bar"/>
          <p:cNvSpPr/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nav-text|s=$nav"/>
          <p:cNvSpPr txBox="1"/>
          <p:nvPr/>
        </p:nvSpPr>
        <p:spPr>
          <a:xfrm>
            <a:off x="571500" y="0"/>
            <a:ext cx="38100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050" noProof="1">
                <a:solidFill>
                  <a:srgbClr val="FFFFFF"/>
                </a:solidFill>
                <a:latin typeface="Arial"/>
                <a:ea typeface="MiSans"/>
              </a:rPr>
              <a:t>02 Architecture &amp; C++ Design</a:t>
            </a:r>
          </a:p>
        </p:txBody>
      </p:sp>
      <p:sp>
        <p:nvSpPr>
          <p:cNvPr id="4" name="dsl:nav-accent"/>
          <p:cNvSpPr/>
          <p:nvPr/>
        </p:nvSpPr>
        <p:spPr>
          <a:xfrm>
            <a:off x="0" y="342900"/>
            <a:ext cx="1905000" cy="38100"/>
          </a:xfrm>
          <a:prstGeom prst="rect">
            <a:avLst/>
          </a:prstGeom>
          <a:solidFill>
            <a:srgbClr val="D49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sl:page-title|s=$title"/>
          <p:cNvSpPr txBox="1"/>
          <p:nvPr/>
        </p:nvSpPr>
        <p:spPr>
          <a:xfrm>
            <a:off x="571500" y="571500"/>
            <a:ext cx="85725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2100" noProof="1">
                <a:solidFill>
                  <a:srgbClr val="1B2A4A"/>
                </a:solidFill>
                <a:latin typeface="Arial"/>
                <a:ea typeface="MiSans"/>
              </a:rPr>
              <a:t>Complete Interaction Flow / Complete Interaction Flow</a:t>
            </a:r>
          </a:p>
        </p:txBody>
      </p:sp>
      <p:sp>
        <p:nvSpPr>
          <p:cNvPr id="6" name="dsl:intro-text|s=$body"/>
          <p:cNvSpPr txBox="1"/>
          <p:nvPr/>
        </p:nvSpPr>
        <p:spPr>
          <a:xfrm>
            <a:off x="571500" y="1047750"/>
            <a:ext cx="11049000" cy="4762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50000"/>
              </a:lnSpc>
            </a:pPr>
            <a:r>
              <a:rPr sz="1200" noProof="1">
                <a:solidFill>
                  <a:srgbClr val="1F2937"/>
                </a:solidFill>
                <a:latin typeface="Arial"/>
                <a:ea typeface="MiSans"/>
              </a:rPr>
              <a:t>The entire interaction is triggered by a single physical button press, no touchscreen needed. A three-level fault fallback strategy ensures stable operation in noisy, disconnected, or peripheral-offline scenarios, solving the pain points of cumbersome traditional AI interaction with poor fault tolerance.</a:t>
            </a:r>
          </a:p>
        </p:txBody>
      </p:sp>
      <p:sp>
        <p:nvSpPr>
          <p:cNvPr id="7" name="dsl:box1"/>
          <p:cNvSpPr/>
          <p:nvPr/>
        </p:nvSpPr>
        <p:spPr>
          <a:xfrm>
            <a:off x="571500" y="1714500"/>
            <a:ext cx="1619250" cy="76200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sl:box1-text"/>
          <p:cNvSpPr txBox="1"/>
          <p:nvPr/>
        </p:nvSpPr>
        <p:spPr>
          <a:xfrm>
            <a:off x="571500" y="1714500"/>
            <a:ext cx="1619250" cy="762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b="1" sz="1050" noProof="1">
                <a:solidFill>
                  <a:srgbClr val="FFFFFF"/>
                </a:solidFill>
                <a:latin typeface="Arial"/>
                <a:ea typeface="MiSans"/>
              </a:rPr>
              <a:t>Three-Key Trigger</a:t>
            </a:r>
          </a:p>
          <a:p>
            <a:pPr algn="ctr"/>
            <a:r>
              <a:rPr sz="1050" noProof="1">
                <a:solidFill>
                  <a:srgbClr val="FFFFFF"/>
                </a:solidFill>
                <a:latin typeface="Arial"/>
                <a:ea typeface="MiSans"/>
              </a:rPr>
              <a:t>Physical Button Trigger</a:t>
            </a:r>
          </a:p>
        </p:txBody>
      </p:sp>
      <p:cxnSp>
        <p:nvCxnSpPr>
          <p:cNvPr id="9" name="dsl:arrow1"/>
          <p:cNvCxnSpPr/>
          <p:nvPr/>
        </p:nvCxnSpPr>
        <p:spPr>
          <a:xfrm>
            <a:off x="2190750" y="2095500"/>
            <a:ext cx="285750" cy="0"/>
          </a:xfrm>
          <a:prstGeom prst="straightConnector1">
            <a:avLst/>
          </a:prstGeom>
          <a:ln w="25400">
            <a:solidFill>
              <a:srgbClr val="D4943A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dsl:box2"/>
          <p:cNvSpPr/>
          <p:nvPr/>
        </p:nvSpPr>
        <p:spPr>
          <a:xfrm>
            <a:off x="2476500" y="1714500"/>
            <a:ext cx="1619250" cy="76200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box2-text"/>
          <p:cNvSpPr txBox="1"/>
          <p:nvPr/>
        </p:nvSpPr>
        <p:spPr>
          <a:xfrm>
            <a:off x="2476500" y="1714500"/>
            <a:ext cx="1619250" cy="762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b="1" sz="1050" noProof="1">
                <a:solidFill>
                  <a:srgbClr val="FFFFFF"/>
                </a:solidFill>
                <a:latin typeface="Arial"/>
                <a:ea typeface="MiSans"/>
              </a:rPr>
              <a:t>5s Voice Recording</a:t>
            </a:r>
          </a:p>
          <a:p>
            <a:pPr algn="ctr"/>
            <a:r>
              <a:rPr sz="1050" noProof="1">
                <a:solidFill>
                  <a:srgbClr val="FFFFFF"/>
                </a:solidFill>
                <a:latin typeface="Arial"/>
                <a:ea typeface="MiSans"/>
              </a:rPr>
              <a:t>Audio Recording</a:t>
            </a:r>
          </a:p>
        </p:txBody>
      </p:sp>
      <p:cxnSp>
        <p:nvCxnSpPr>
          <p:cNvPr id="12" name="dsl:arrow2"/>
          <p:cNvCxnSpPr/>
          <p:nvPr/>
        </p:nvCxnSpPr>
        <p:spPr>
          <a:xfrm>
            <a:off x="4095750" y="2095500"/>
            <a:ext cx="285750" cy="0"/>
          </a:xfrm>
          <a:prstGeom prst="straightConnector1">
            <a:avLst/>
          </a:prstGeom>
          <a:ln w="25400">
            <a:solidFill>
              <a:srgbClr val="D4943A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dsl:box3"/>
          <p:cNvSpPr/>
          <p:nvPr/>
        </p:nvSpPr>
        <p:spPr>
          <a:xfrm>
            <a:off x="4381500" y="1714500"/>
            <a:ext cx="1619250" cy="76200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l:box3-text"/>
          <p:cNvSpPr txBox="1"/>
          <p:nvPr/>
        </p:nvSpPr>
        <p:spPr>
          <a:xfrm>
            <a:off x="4381500" y="1714500"/>
            <a:ext cx="1619250" cy="762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b="1" sz="1050" noProof="1">
                <a:solidFill>
                  <a:srgbClr val="FFFFFF"/>
                </a:solidFill>
                <a:latin typeface="Arial"/>
                <a:ea typeface="MiSans"/>
              </a:rPr>
              <a:t>ASR Speech-to-Text</a:t>
            </a:r>
          </a:p>
          <a:p>
            <a:pPr algn="ctr"/>
            <a:r>
              <a:rPr sz="1050" noProof="1">
                <a:solidFill>
                  <a:srgbClr val="FFFFFF"/>
                </a:solidFill>
                <a:latin typeface="Arial"/>
                <a:ea typeface="MiSans"/>
              </a:rPr>
              <a:t>Speech-to-Text</a:t>
            </a:r>
          </a:p>
        </p:txBody>
      </p:sp>
      <p:cxnSp>
        <p:nvCxnSpPr>
          <p:cNvPr id="15" name="dsl:arrow3"/>
          <p:cNvCxnSpPr/>
          <p:nvPr/>
        </p:nvCxnSpPr>
        <p:spPr>
          <a:xfrm>
            <a:off x="6000750" y="2095500"/>
            <a:ext cx="285750" cy="0"/>
          </a:xfrm>
          <a:prstGeom prst="straightConnector1">
            <a:avLst/>
          </a:prstGeom>
          <a:ln w="25400">
            <a:solidFill>
              <a:srgbClr val="D4943A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dsl:box4"/>
          <p:cNvSpPr/>
          <p:nvPr/>
        </p:nvSpPr>
        <p:spPr>
          <a:xfrm>
            <a:off x="6286500" y="1714500"/>
            <a:ext cx="1619250" cy="76200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sl:box4-text"/>
          <p:cNvSpPr txBox="1"/>
          <p:nvPr/>
        </p:nvSpPr>
        <p:spPr>
          <a:xfrm>
            <a:off x="6286500" y="1714500"/>
            <a:ext cx="1619250" cy="762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b="1" sz="1050" noProof="1">
                <a:solidFill>
                  <a:srgbClr val="FFFFFF"/>
                </a:solidFill>
                <a:latin typeface="Arial"/>
                <a:ea typeface="MiSans"/>
              </a:rPr>
              <a:t>Camera Snapshot</a:t>
            </a:r>
          </a:p>
          <a:p>
            <a:pPr algn="ctr"/>
            <a:r>
              <a:rPr sz="1050" noProof="1">
                <a:solidFill>
                  <a:srgbClr val="FFFFFF"/>
                </a:solidFill>
                <a:latin typeface="Arial"/>
                <a:ea typeface="MiSans"/>
              </a:rPr>
              <a:t>Real-time Image Capture</a:t>
            </a:r>
          </a:p>
        </p:txBody>
      </p:sp>
      <p:cxnSp>
        <p:nvCxnSpPr>
          <p:cNvPr id="18" name="dsl:arrow4"/>
          <p:cNvCxnSpPr/>
          <p:nvPr/>
        </p:nvCxnSpPr>
        <p:spPr>
          <a:xfrm>
            <a:off x="7905750" y="2095500"/>
            <a:ext cx="285750" cy="0"/>
          </a:xfrm>
          <a:prstGeom prst="straightConnector1">
            <a:avLst/>
          </a:prstGeom>
          <a:ln w="25400">
            <a:solidFill>
              <a:srgbClr val="D4943A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dsl:box5"/>
          <p:cNvSpPr/>
          <p:nvPr/>
        </p:nvSpPr>
        <p:spPr>
          <a:xfrm>
            <a:off x="8191500" y="1714500"/>
            <a:ext cx="1619250" cy="762000"/>
          </a:xfrm>
          <a:prstGeom prst="roundRect">
            <a:avLst>
              <a:gd name="adj" fmla="val 8000"/>
            </a:avLst>
          </a:prstGeom>
          <a:solidFill>
            <a:srgbClr val="D49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sl:box5-text"/>
          <p:cNvSpPr txBox="1"/>
          <p:nvPr/>
        </p:nvSpPr>
        <p:spPr>
          <a:xfrm>
            <a:off x="8191500" y="1714500"/>
            <a:ext cx="1619250" cy="762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b="1" sz="1050" noProof="1">
                <a:solidFill>
                  <a:srgbClr val="FFFFFF"/>
                </a:solidFill>
                <a:latin typeface="Arial"/>
                <a:ea typeface="MiSans"/>
              </a:rPr>
              <a:t>Qwen-VL Analysis</a:t>
            </a:r>
          </a:p>
          <a:p>
            <a:pPr algn="ctr"/>
            <a:r>
              <a:rPr sz="1050" noProof="1">
                <a:solidFill>
                  <a:srgbClr val="FFFFFF"/>
                </a:solidFill>
                <a:latin typeface="Arial"/>
                <a:ea typeface="MiSans"/>
              </a:rPr>
              <a:t>Multimodal AI Understanding</a:t>
            </a:r>
          </a:p>
        </p:txBody>
      </p:sp>
      <p:cxnSp>
        <p:nvCxnSpPr>
          <p:cNvPr id="21" name="dsl:arrow5"/>
          <p:cNvCxnSpPr/>
          <p:nvPr/>
        </p:nvCxnSpPr>
        <p:spPr>
          <a:xfrm>
            <a:off x="9810750" y="2095500"/>
            <a:ext cx="285750" cy="0"/>
          </a:xfrm>
          <a:prstGeom prst="straightConnector1">
            <a:avLst/>
          </a:prstGeom>
          <a:ln w="25400">
            <a:solidFill>
              <a:srgbClr val="D4943A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dsl:box6"/>
          <p:cNvSpPr/>
          <p:nvPr/>
        </p:nvSpPr>
        <p:spPr>
          <a:xfrm>
            <a:off x="10096500" y="1714500"/>
            <a:ext cx="1524000" cy="76200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sl:box6-text"/>
          <p:cNvSpPr txBox="1"/>
          <p:nvPr/>
        </p:nvSpPr>
        <p:spPr>
          <a:xfrm>
            <a:off x="10096500" y="1714500"/>
            <a:ext cx="1524000" cy="762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b="1" sz="1050" noProof="1">
                <a:solidFill>
                  <a:srgbClr val="FFFFFF"/>
                </a:solidFill>
                <a:latin typeface="Arial"/>
                <a:ea typeface="MiSans"/>
              </a:rPr>
              <a:t>OLED + Qt Sync</a:t>
            </a:r>
          </a:p>
          <a:p>
            <a:pPr algn="ctr"/>
            <a:r>
              <a:rPr sz="1050" noProof="1">
                <a:solidFill>
                  <a:srgbClr val="FFFFFF"/>
                </a:solidFill>
                <a:latin typeface="Arial"/>
                <a:ea typeface="MiSans"/>
              </a:rPr>
              <a:t>Synchronize Hardware and Interface</a:t>
            </a:r>
          </a:p>
        </p:txBody>
      </p:sp>
      <p:sp>
        <p:nvSpPr>
          <p:cNvPr id="24" name="dsl:fallback-title"/>
          <p:cNvSpPr txBox="1"/>
          <p:nvPr/>
        </p:nvSpPr>
        <p:spPr>
          <a:xfrm>
            <a:off x="571500" y="2857500"/>
            <a:ext cx="5715000" cy="2667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350" noProof="1">
                <a:solidFill>
                  <a:srgbClr val="1B2A4A"/>
                </a:solidFill>
                <a:latin typeface="Arial"/>
                <a:ea typeface="MiSans"/>
              </a:rPr>
              <a:t>Fallback Fault Tolerance Strategy / Fault Tolerance Fallback Mechanism</a:t>
            </a:r>
          </a:p>
        </p:txBody>
      </p:sp>
      <p:sp>
        <p:nvSpPr>
          <p:cNvPr id="25" name="dsl:fallback-line"/>
          <p:cNvSpPr/>
          <p:nvPr/>
        </p:nvSpPr>
        <p:spPr>
          <a:xfrm>
            <a:off x="571500" y="3200400"/>
            <a:ext cx="11049000" cy="9525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sl:fallback-bg1"/>
          <p:cNvSpPr/>
          <p:nvPr/>
        </p:nvSpPr>
        <p:spPr>
          <a:xfrm>
            <a:off x="571500" y="3390900"/>
            <a:ext cx="3429000" cy="1047750"/>
          </a:xfrm>
          <a:prstGeom prst="roundRect">
            <a:avLst>
              <a:gd name="adj" fmla="val 6000"/>
            </a:avLst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dsl:fallback-text1"/>
          <p:cNvSpPr txBox="1"/>
          <p:nvPr/>
        </p:nvSpPr>
        <p:spPr>
          <a:xfrm>
            <a:off x="714375" y="3438525"/>
            <a:ext cx="3143250" cy="952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050" noProof="1">
                <a:solidFill>
                  <a:srgbClr val="1F2937"/>
                </a:solidFill>
                <a:latin typeface="Arial"/>
                <a:ea typeface="MiSans"/>
              </a:rPr>
              <a:t>Speech Recognition Failure</a:t>
            </a:r>
          </a:p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1F2937"/>
                </a:solidFill>
                <a:latin typeface="Arial"/>
                <a:ea typeface="MiSans"/>
              </a:rPr>
              <a:t>Switch to manual text input channel to avoid no-input freeze and ensure interaction chain continuity.</a:t>
            </a:r>
          </a:p>
        </p:txBody>
      </p:sp>
      <p:sp>
        <p:nvSpPr>
          <p:cNvPr id="28" name="dsl:fallback-bg2"/>
          <p:cNvSpPr/>
          <p:nvPr/>
        </p:nvSpPr>
        <p:spPr>
          <a:xfrm>
            <a:off x="4191000" y="3390900"/>
            <a:ext cx="3429000" cy="1047750"/>
          </a:xfrm>
          <a:prstGeom prst="roundRect">
            <a:avLst>
              <a:gd name="adj" fmla="val 6000"/>
            </a:avLst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dsl:fallback-text2"/>
          <p:cNvSpPr txBox="1"/>
          <p:nvPr/>
        </p:nvSpPr>
        <p:spPr>
          <a:xfrm>
            <a:off x="4333875" y="3438525"/>
            <a:ext cx="3143250" cy="952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050" noProof="1">
                <a:solidFill>
                  <a:srgbClr val="1F2937"/>
                </a:solidFill>
                <a:latin typeface="Arial"/>
                <a:ea typeface="MiSans"/>
              </a:rPr>
              <a:t>Camera Offline</a:t>
            </a:r>
          </a:p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1F2937"/>
                </a:solidFill>
                <a:latin typeface="Arial"/>
                <a:ea typeface="MiSans"/>
              </a:rPr>
              <a:t>Load locally cached historical images to ensure AI analysis chain continuity and support continuous use.</a:t>
            </a:r>
          </a:p>
        </p:txBody>
      </p:sp>
      <p:sp>
        <p:nvSpPr>
          <p:cNvPr id="30" name="dsl:fallback-bg3"/>
          <p:cNvSpPr/>
          <p:nvPr/>
        </p:nvSpPr>
        <p:spPr>
          <a:xfrm>
            <a:off x="7810500" y="3390900"/>
            <a:ext cx="3810000" cy="1047750"/>
          </a:xfrm>
          <a:prstGeom prst="roundRect">
            <a:avLst>
              <a:gd name="adj" fmla="val 6000"/>
            </a:avLst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dsl:fallback-text3"/>
          <p:cNvSpPr txBox="1"/>
          <p:nvPr/>
        </p:nvSpPr>
        <p:spPr>
          <a:xfrm>
            <a:off x="7953375" y="3438525"/>
            <a:ext cx="3524250" cy="952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050" noProof="1">
                <a:solidFill>
                  <a:srgbClr val="1F2937"/>
                </a:solidFill>
                <a:latin typeface="Arial"/>
                <a:ea typeface="MiSans"/>
              </a:rPr>
              <a:t>Network Connection Interrupted</a:t>
            </a:r>
          </a:p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1F2937"/>
                </a:solidFill>
                <a:latin typeface="Arial"/>
                <a:ea typeface="MiSans"/>
              </a:rPr>
              <a:t>Hardware audio-visual alarm + OLED fault code printing for quick fault-level localization and troubleshooting.</a:t>
            </a:r>
          </a:p>
        </p:txBody>
      </p:sp>
      <p:sp>
        <p:nvSpPr>
          <p:cNvPr id="32" name="dsl:page-num|s=$caption"/>
          <p:cNvSpPr txBox="1"/>
          <p:nvPr/>
        </p:nvSpPr>
        <p:spPr>
          <a:xfrm>
            <a:off x="11239500" y="6572250"/>
            <a:ext cx="5715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B6B82"/>
                </a:solidFill>
                <a:latin typeface="Arial"/>
                <a:ea typeface="MiSan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nav-bar"/>
          <p:cNvSpPr/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nav-text|s=$nav"/>
          <p:cNvSpPr txBox="1"/>
          <p:nvPr/>
        </p:nvSpPr>
        <p:spPr>
          <a:xfrm>
            <a:off x="571500" y="0"/>
            <a:ext cx="38100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050" noProof="1">
                <a:solidFill>
                  <a:srgbClr val="FFFFFF"/>
                </a:solidFill>
                <a:latin typeface="Arial"/>
                <a:ea typeface="MiSans"/>
              </a:rPr>
              <a:t>02 Architecture &amp; C++ Design</a:t>
            </a:r>
          </a:p>
        </p:txBody>
      </p:sp>
      <p:sp>
        <p:nvSpPr>
          <p:cNvPr id="4" name="dsl:nav-accent"/>
          <p:cNvSpPr/>
          <p:nvPr/>
        </p:nvSpPr>
        <p:spPr>
          <a:xfrm>
            <a:off x="0" y="342900"/>
            <a:ext cx="1905000" cy="38100"/>
          </a:xfrm>
          <a:prstGeom prst="rect">
            <a:avLst/>
          </a:prstGeom>
          <a:solidFill>
            <a:srgbClr val="D49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sl:page-title|s=$title"/>
          <p:cNvSpPr txBox="1"/>
          <p:nvPr/>
        </p:nvSpPr>
        <p:spPr>
          <a:xfrm>
            <a:off x="571500" y="571500"/>
            <a:ext cx="85725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2100" noProof="1">
                <a:solidFill>
                  <a:srgbClr val="1B2A4A"/>
                </a:solidFill>
                <a:latin typeface="Arial"/>
                <a:ea typeface="MiSans"/>
              </a:rPr>
              <a:t>C++ Object-Oriented Design / C++ Object-Oriented Design</a:t>
            </a:r>
          </a:p>
        </p:txBody>
      </p:sp>
      <p:sp>
        <p:nvSpPr>
          <p:cNvPr id="6" name="dsl:intro-text|s=$body"/>
          <p:cNvSpPr txBox="1"/>
          <p:nvPr/>
        </p:nvSpPr>
        <p:spPr>
          <a:xfrm>
            <a:off x="571500" y="1047750"/>
            <a:ext cx="11049000" cy="4762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50000"/>
              </a:lnSpc>
            </a:pPr>
            <a:r>
              <a:rPr sz="1200" noProof="1">
                <a:solidFill>
                  <a:srgbClr val="1F2937"/>
                </a:solidFill>
                <a:latin typeface="Arial"/>
                <a:ea typeface="MiSans"/>
              </a:rPr>
              <a:t>This project strictly follows C++ OOP standards. </a:t>
            </a:r>
            <a:r>
              <a:rPr b="1" sz="1200" noProof="1">
                <a:solidFill>
                  <a:srgbClr val="1F2937"/>
                </a:solidFill>
                <a:latin typeface="Arial"/>
                <a:ea typeface="MiSans"/>
              </a:rPr>
              <a:t>Pure virtual abstract interface classes</a:t>
            </a:r>
            <a:r>
              <a:rPr sz="1200" noProof="1">
                <a:solidFill>
                  <a:srgbClr val="1F2937"/>
                </a:solidFill>
                <a:latin typeface="Arial"/>
                <a:ea typeface="MiSans"/>
              </a:rPr>
              <a:t> define unified service standards, with different business implementations completed through inheritance and polymorphism, fully covering the core OOP assessment content.</a:t>
            </a:r>
          </a:p>
        </p:txBody>
      </p:sp>
      <p:sp>
        <p:nvSpPr>
          <p:cNvPr id="7" name="dsl:iface-section-title"/>
          <p:cNvSpPr txBox="1"/>
          <p:nvPr/>
        </p:nvSpPr>
        <p:spPr>
          <a:xfrm>
            <a:off x="571500" y="1619250"/>
            <a:ext cx="3810000" cy="2667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350" noProof="1">
                <a:solidFill>
                  <a:srgbClr val="1B2A4A"/>
                </a:solidFill>
                <a:latin typeface="Arial"/>
                <a:ea typeface="MiSans"/>
              </a:rPr>
              <a:t>Abstract Interface / Abstract Base Class</a:t>
            </a:r>
          </a:p>
        </p:txBody>
      </p:sp>
      <p:sp>
        <p:nvSpPr>
          <p:cNvPr id="8" name="dsl:iface-line"/>
          <p:cNvSpPr/>
          <p:nvPr/>
        </p:nvSpPr>
        <p:spPr>
          <a:xfrm>
            <a:off x="571500" y="1924050"/>
            <a:ext cx="11049000" cy="9525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sl:iface1-bg"/>
          <p:cNvSpPr/>
          <p:nvPr/>
        </p:nvSpPr>
        <p:spPr>
          <a:xfrm>
            <a:off x="571500" y="2076450"/>
            <a:ext cx="3429000" cy="57150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iface1-text"/>
          <p:cNvSpPr txBox="1"/>
          <p:nvPr/>
        </p:nvSpPr>
        <p:spPr>
          <a:xfrm>
            <a:off x="571500" y="2076450"/>
            <a:ext cx="3429000" cy="5715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b="1" sz="1200" noProof="1">
                <a:solidFill>
                  <a:srgbClr val="FFFFFF"/>
                </a:solidFill>
                <a:latin typeface="Arial"/>
                <a:ea typeface="MiSans"/>
              </a:rPr>
              <a:t>CameraService</a:t>
            </a:r>
          </a:p>
          <a:p>
            <a:pPr algn="ctr"/>
            <a:r>
              <a:rPr sz="1200" noProof="1">
                <a:solidFill>
                  <a:srgbClr val="FFFFFF"/>
                </a:solidFill>
                <a:latin typeface="Arial"/>
                <a:ea typeface="MiSans"/>
              </a:rPr>
              <a:t>Pure Virtual Interface capture()</a:t>
            </a:r>
          </a:p>
        </p:txBody>
      </p:sp>
      <p:sp>
        <p:nvSpPr>
          <p:cNvPr id="11" name="dsl:iface2-bg"/>
          <p:cNvSpPr/>
          <p:nvPr/>
        </p:nvSpPr>
        <p:spPr>
          <a:xfrm>
            <a:off x="4191000" y="2076450"/>
            <a:ext cx="3429000" cy="57150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sl:iface2-text"/>
          <p:cNvSpPr txBox="1"/>
          <p:nvPr/>
        </p:nvSpPr>
        <p:spPr>
          <a:xfrm>
            <a:off x="4191000" y="2076450"/>
            <a:ext cx="3429000" cy="5715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b="1" sz="1200" noProof="1">
                <a:solidFill>
                  <a:srgbClr val="FFFFFF"/>
                </a:solidFill>
                <a:latin typeface="Arial"/>
                <a:ea typeface="MiSans"/>
              </a:rPr>
              <a:t>AiVisionService</a:t>
            </a:r>
          </a:p>
          <a:p>
            <a:pPr algn="ctr"/>
            <a:r>
              <a:rPr sz="1200" noProof="1">
                <a:solidFill>
                  <a:srgbClr val="FFFFFF"/>
                </a:solidFill>
                <a:latin typeface="Arial"/>
                <a:ea typeface="MiSans"/>
              </a:rPr>
              <a:t>Pure Virtual Interface analyze()</a:t>
            </a:r>
          </a:p>
        </p:txBody>
      </p:sp>
      <p:sp>
        <p:nvSpPr>
          <p:cNvPr id="13" name="dsl:iface3-bg"/>
          <p:cNvSpPr/>
          <p:nvPr/>
        </p:nvSpPr>
        <p:spPr>
          <a:xfrm>
            <a:off x="7810500" y="2076450"/>
            <a:ext cx="3810000" cy="57150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l:iface3-text"/>
          <p:cNvSpPr txBox="1"/>
          <p:nvPr/>
        </p:nvSpPr>
        <p:spPr>
          <a:xfrm>
            <a:off x="7810500" y="2076450"/>
            <a:ext cx="3810000" cy="5715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b="1" sz="1200" noProof="1">
                <a:solidFill>
                  <a:srgbClr val="FFFFFF"/>
                </a:solidFill>
                <a:latin typeface="Arial"/>
                <a:ea typeface="MiSans"/>
              </a:rPr>
              <a:t>AudioRecorder</a:t>
            </a:r>
          </a:p>
          <a:p>
            <a:pPr algn="ctr"/>
            <a:r>
              <a:rPr sz="1200" noProof="1">
                <a:solidFill>
                  <a:srgbClr val="FFFFFF"/>
                </a:solidFill>
                <a:latin typeface="Arial"/>
                <a:ea typeface="MiSans"/>
              </a:rPr>
              <a:t>Pure Virtual Interface record()</a:t>
            </a:r>
          </a:p>
        </p:txBody>
      </p:sp>
      <p:sp>
        <p:nvSpPr>
          <p:cNvPr id="15" name="dsl:impl-section-title"/>
          <p:cNvSpPr txBox="1"/>
          <p:nvPr/>
        </p:nvSpPr>
        <p:spPr>
          <a:xfrm>
            <a:off x="571500" y="2743200"/>
            <a:ext cx="3810000" cy="2095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350" noProof="1">
                <a:solidFill>
                  <a:srgbClr val="1B2A4A"/>
                </a:solidFill>
                <a:latin typeface="Arial"/>
                <a:ea typeface="MiSans"/>
              </a:rPr>
              <a:t>Derived Implementation / Derived Implementation Classes</a:t>
            </a:r>
          </a:p>
        </p:txBody>
      </p:sp>
      <p:sp>
        <p:nvSpPr>
          <p:cNvPr id="16" name="dsl:impl-line"/>
          <p:cNvSpPr/>
          <p:nvPr/>
        </p:nvSpPr>
        <p:spPr>
          <a:xfrm>
            <a:off x="571500" y="2990850"/>
            <a:ext cx="11049000" cy="9525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sl:impl1-bg"/>
          <p:cNvSpPr/>
          <p:nvPr/>
        </p:nvSpPr>
        <p:spPr>
          <a:xfrm>
            <a:off x="571500" y="3143250"/>
            <a:ext cx="2571750" cy="571500"/>
          </a:xfrm>
          <a:prstGeom prst="roundRect">
            <a:avLst>
              <a:gd name="adj" fmla="val 8000"/>
            </a:avLst>
          </a:prstGeom>
          <a:solidFill>
            <a:srgbClr val="E8EDF3"/>
          </a:solidFill>
          <a:ln w="25400">
            <a:solidFill>
              <a:srgbClr val="1B2A4A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sl:impl1-text"/>
          <p:cNvSpPr txBox="1"/>
          <p:nvPr/>
        </p:nvSpPr>
        <p:spPr>
          <a:xfrm>
            <a:off x="571500" y="3143250"/>
            <a:ext cx="2571750" cy="5715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b="1" sz="1050" noProof="1">
                <a:solidFill>
                  <a:srgbClr val="1B2A4A"/>
                </a:solidFill>
                <a:latin typeface="Arial"/>
                <a:ea typeface="MiSans"/>
              </a:rPr>
              <a:t>OpenCvCameraService</a:t>
            </a:r>
          </a:p>
          <a:p>
            <a:pPr algn="ctr"/>
            <a:r>
              <a:rPr sz="1050" noProof="1">
                <a:solidFill>
                  <a:srgbClr val="1B2A4A"/>
                </a:solidFill>
                <a:latin typeface="Arial"/>
                <a:ea typeface="MiSans"/>
              </a:rPr>
              <a:t>OpenCV Real Camera Capture</a:t>
            </a:r>
          </a:p>
        </p:txBody>
      </p:sp>
      <p:cxnSp>
        <p:nvCxnSpPr>
          <p:cNvPr id="19" name="dsl:impl-arrow1"/>
          <p:cNvCxnSpPr/>
          <p:nvPr/>
        </p:nvCxnSpPr>
        <p:spPr>
          <a:xfrm>
            <a:off x="142875" y="2647950"/>
            <a:ext cx="0" cy="495300"/>
          </a:xfrm>
          <a:prstGeom prst="straightConnector1">
            <a:avLst/>
          </a:prstGeom>
          <a:ln w="25400">
            <a:solidFill>
              <a:srgbClr val="D4943A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dsl:impl2-bg"/>
          <p:cNvSpPr/>
          <p:nvPr/>
        </p:nvSpPr>
        <p:spPr>
          <a:xfrm>
            <a:off x="3333750" y="3143250"/>
            <a:ext cx="2571750" cy="571500"/>
          </a:xfrm>
          <a:prstGeom prst="roundRect">
            <a:avLst>
              <a:gd name="adj" fmla="val 8000"/>
            </a:avLst>
          </a:prstGeom>
          <a:solidFill>
            <a:srgbClr val="E8EDF3"/>
          </a:solidFill>
          <a:ln w="25400">
            <a:solidFill>
              <a:srgbClr val="1B2A4A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sl:impl2-text"/>
          <p:cNvSpPr txBox="1"/>
          <p:nvPr/>
        </p:nvSpPr>
        <p:spPr>
          <a:xfrm>
            <a:off x="3333750" y="3143250"/>
            <a:ext cx="2571750" cy="5715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b="1" sz="1050" noProof="1">
                <a:solidFill>
                  <a:srgbClr val="1B2A4A"/>
                </a:solidFill>
                <a:latin typeface="Arial"/>
                <a:ea typeface="MiSans"/>
              </a:rPr>
              <a:t>QwenVisionService</a:t>
            </a:r>
          </a:p>
          <a:p>
            <a:pPr algn="ctr"/>
            <a:r>
              <a:rPr sz="1050" noProof="1">
                <a:solidFill>
                  <a:srgbClr val="1B2A4A"/>
                </a:solidFill>
                <a:latin typeface="Arial"/>
                <a:ea typeface="MiSans"/>
              </a:rPr>
              <a:t>Call Qwen API</a:t>
            </a:r>
          </a:p>
        </p:txBody>
      </p:sp>
      <p:cxnSp>
        <p:nvCxnSpPr>
          <p:cNvPr id="22" name="dsl:impl-arrow2"/>
          <p:cNvCxnSpPr/>
          <p:nvPr/>
        </p:nvCxnSpPr>
        <p:spPr>
          <a:xfrm>
            <a:off x="142875" y="2647950"/>
            <a:ext cx="0" cy="495300"/>
          </a:xfrm>
          <a:prstGeom prst="straightConnector1">
            <a:avLst/>
          </a:prstGeom>
          <a:ln w="25400">
            <a:solidFill>
              <a:srgbClr val="D4943A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dsl:impl3-bg"/>
          <p:cNvSpPr/>
          <p:nvPr/>
        </p:nvSpPr>
        <p:spPr>
          <a:xfrm>
            <a:off x="6096000" y="3143250"/>
            <a:ext cx="2571750" cy="571500"/>
          </a:xfrm>
          <a:prstGeom prst="roundRect">
            <a:avLst>
              <a:gd name="adj" fmla="val 8000"/>
            </a:avLst>
          </a:prstGeom>
          <a:solidFill>
            <a:srgbClr val="E8EDF3"/>
          </a:solidFill>
          <a:ln w="25400">
            <a:solidFill>
              <a:srgbClr val="5B6B82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sl:impl3-text"/>
          <p:cNvSpPr txBox="1"/>
          <p:nvPr/>
        </p:nvSpPr>
        <p:spPr>
          <a:xfrm>
            <a:off x="6096000" y="3143250"/>
            <a:ext cx="2571750" cy="5715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b="1" sz="1050" noProof="1">
                <a:solidFill>
                  <a:srgbClr val="5B6B82"/>
                </a:solidFill>
                <a:latin typeface="Arial"/>
                <a:ea typeface="MiSans"/>
              </a:rPr>
              <a:t>MockAiVisionService</a:t>
            </a:r>
          </a:p>
          <a:p>
            <a:pPr algn="ctr"/>
            <a:r>
              <a:rPr sz="1050" noProof="1">
                <a:solidFill>
                  <a:srgbClr val="5B6B82"/>
                </a:solidFill>
                <a:latin typeface="Arial"/>
                <a:ea typeface="MiSans"/>
              </a:rPr>
              <a:t>Offline Simulated AI Return</a:t>
            </a:r>
          </a:p>
        </p:txBody>
      </p:sp>
      <p:cxnSp>
        <p:nvCxnSpPr>
          <p:cNvPr id="25" name="dsl:impl-arrow3"/>
          <p:cNvCxnSpPr/>
          <p:nvPr/>
        </p:nvCxnSpPr>
        <p:spPr>
          <a:xfrm>
            <a:off x="142875" y="2647950"/>
            <a:ext cx="0" cy="495300"/>
          </a:xfrm>
          <a:prstGeom prst="straightConnector1">
            <a:avLst/>
          </a:prstGeom>
          <a:ln w="25400">
            <a:solidFill>
              <a:srgbClr val="D4943A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dsl:impl4-bg"/>
          <p:cNvSpPr/>
          <p:nvPr/>
        </p:nvSpPr>
        <p:spPr>
          <a:xfrm>
            <a:off x="8858250" y="3143250"/>
            <a:ext cx="2762250" cy="571500"/>
          </a:xfrm>
          <a:prstGeom prst="roundRect">
            <a:avLst>
              <a:gd name="adj" fmla="val 8000"/>
            </a:avLst>
          </a:prstGeom>
          <a:solidFill>
            <a:srgbClr val="E8EDF3"/>
          </a:solidFill>
          <a:ln w="25400">
            <a:solidFill>
              <a:srgbClr val="1B2A4A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dsl:impl4-text"/>
          <p:cNvSpPr txBox="1"/>
          <p:nvPr/>
        </p:nvSpPr>
        <p:spPr>
          <a:xfrm>
            <a:off x="8858250" y="3143250"/>
            <a:ext cx="2762250" cy="5715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b="1" sz="1050" noProof="1">
                <a:solidFill>
                  <a:srgbClr val="1B2A4A"/>
                </a:solidFill>
                <a:latin typeface="Arial"/>
                <a:ea typeface="MiSans"/>
              </a:rPr>
              <a:t>ShellAudioRecorder</a:t>
            </a:r>
          </a:p>
          <a:p>
            <a:pPr algn="ctr"/>
            <a:r>
              <a:rPr sz="1050" noProof="1">
                <a:solidFill>
                  <a:srgbClr val="1B2A4A"/>
                </a:solidFill>
                <a:latin typeface="Arial"/>
                <a:ea typeface="MiSans"/>
              </a:rPr>
              <a:t>System Interface Audio Recording</a:t>
            </a:r>
          </a:p>
        </p:txBody>
      </p:sp>
      <p:cxnSp>
        <p:nvCxnSpPr>
          <p:cNvPr id="28" name="dsl:impl-arrow4"/>
          <p:cNvCxnSpPr/>
          <p:nvPr/>
        </p:nvCxnSpPr>
        <p:spPr>
          <a:xfrm>
            <a:off x="142875" y="2647950"/>
            <a:ext cx="0" cy="495300"/>
          </a:xfrm>
          <a:prstGeom prst="straightConnector1">
            <a:avLst/>
          </a:prstGeom>
          <a:ln w="25400">
            <a:solidFill>
              <a:srgbClr val="D4943A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dsl:benefit-title"/>
          <p:cNvSpPr txBox="1"/>
          <p:nvPr/>
        </p:nvSpPr>
        <p:spPr>
          <a:xfrm>
            <a:off x="571500" y="3905250"/>
            <a:ext cx="3810000" cy="2667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350" noProof="1">
                <a:solidFill>
                  <a:srgbClr val="1B2A4A"/>
                </a:solidFill>
                <a:latin typeface="Arial"/>
                <a:ea typeface="MiSans"/>
              </a:rPr>
              <a:t>Design Benefits / Design Benefits</a:t>
            </a:r>
          </a:p>
        </p:txBody>
      </p:sp>
      <p:sp>
        <p:nvSpPr>
          <p:cNvPr id="30" name="dsl:benefit-line"/>
          <p:cNvSpPr/>
          <p:nvPr/>
        </p:nvSpPr>
        <p:spPr>
          <a:xfrm>
            <a:off x="571500" y="4210050"/>
            <a:ext cx="11049000" cy="9525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dsl:benefit-bg1"/>
          <p:cNvSpPr/>
          <p:nvPr/>
        </p:nvSpPr>
        <p:spPr>
          <a:xfrm>
            <a:off x="571500" y="4381500"/>
            <a:ext cx="2667000" cy="1143000"/>
          </a:xfrm>
          <a:prstGeom prst="roundRect">
            <a:avLst>
              <a:gd name="adj" fmla="val 6000"/>
            </a:avLst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dsl:benefit-text1"/>
          <p:cNvSpPr txBox="1"/>
          <p:nvPr/>
        </p:nvSpPr>
        <p:spPr>
          <a:xfrm>
            <a:off x="714375" y="4429125"/>
            <a:ext cx="2381250" cy="10477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050" noProof="1">
                <a:solidFill>
                  <a:srgbClr val="1F2937"/>
                </a:solidFill>
                <a:latin typeface="Arial"/>
                <a:ea typeface="MiSans"/>
              </a:rPr>
              <a:t>① Satisfies Course Polymorphism Assessment</a:t>
            </a:r>
          </a:p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1F2937"/>
                </a:solidFill>
                <a:latin typeface="Arial"/>
                <a:ea typeface="MiSans"/>
              </a:rPr>
              <a:t>Relies on C++ abstract classes, inheritance, and dynamic binding to achieve polymorphism — the core project practice.</a:t>
            </a:r>
          </a:p>
        </p:txBody>
      </p:sp>
      <p:sp>
        <p:nvSpPr>
          <p:cNvPr id="33" name="dsl:benefit-bg2"/>
          <p:cNvSpPr/>
          <p:nvPr/>
        </p:nvSpPr>
        <p:spPr>
          <a:xfrm>
            <a:off x="3429000" y="4381500"/>
            <a:ext cx="2667000" cy="1143000"/>
          </a:xfrm>
          <a:prstGeom prst="roundRect">
            <a:avLst>
              <a:gd name="adj" fmla="val 6000"/>
            </a:avLst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dsl:benefit-text2"/>
          <p:cNvSpPr txBox="1"/>
          <p:nvPr/>
        </p:nvSpPr>
        <p:spPr>
          <a:xfrm>
            <a:off x="3571875" y="4429125"/>
            <a:ext cx="2381250" cy="10477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050" noProof="1">
                <a:solidFill>
                  <a:srgbClr val="1F2937"/>
                </a:solidFill>
                <a:latin typeface="Arial"/>
                <a:ea typeface="MiSans"/>
              </a:rPr>
              <a:t>② Decoupling and Parallel Development</a:t>
            </a:r>
          </a:p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1F2937"/>
                </a:solidFill>
                <a:latin typeface="Arial"/>
                <a:ea typeface="MiSans"/>
              </a:rPr>
              <a:t>Upper layers only depend on abstract interfaces, not binding to hardware/API. Teams can develop in parallel without interference.</a:t>
            </a:r>
          </a:p>
        </p:txBody>
      </p:sp>
      <p:sp>
        <p:nvSpPr>
          <p:cNvPr id="35" name="dsl:benefit-bg3"/>
          <p:cNvSpPr/>
          <p:nvPr/>
        </p:nvSpPr>
        <p:spPr>
          <a:xfrm>
            <a:off x="6286500" y="4381500"/>
            <a:ext cx="2667000" cy="1143000"/>
          </a:xfrm>
          <a:prstGeom prst="roundRect">
            <a:avLst>
              <a:gd name="adj" fmla="val 6000"/>
            </a:avLst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dsl:benefit-text3"/>
          <p:cNvSpPr txBox="1"/>
          <p:nvPr/>
        </p:nvSpPr>
        <p:spPr>
          <a:xfrm>
            <a:off x="6429375" y="4429125"/>
            <a:ext cx="2381250" cy="10477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050" noProof="1">
                <a:solidFill>
                  <a:srgbClr val="1F2937"/>
                </a:solidFill>
                <a:latin typeface="Arial"/>
                <a:ea typeface="MiSans"/>
              </a:rPr>
              <a:t>③ Supports Offline Unit Testing</a:t>
            </a:r>
          </a:p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1F2937"/>
                </a:solidFill>
                <a:latin typeface="Arial"/>
                <a:ea typeface="MiSans"/>
              </a:rPr>
              <a:t>MockAiVision requires no network or keys, enabling full business process debugging without hardware.</a:t>
            </a:r>
          </a:p>
        </p:txBody>
      </p:sp>
      <p:sp>
        <p:nvSpPr>
          <p:cNvPr id="37" name="dsl:benefit-bg4"/>
          <p:cNvSpPr/>
          <p:nvPr/>
        </p:nvSpPr>
        <p:spPr>
          <a:xfrm>
            <a:off x="9144000" y="4381500"/>
            <a:ext cx="2476500" cy="1143000"/>
          </a:xfrm>
          <a:prstGeom prst="roundRect">
            <a:avLst>
              <a:gd name="adj" fmla="val 6000"/>
            </a:avLst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dsl:benefit-text4"/>
          <p:cNvSpPr txBox="1"/>
          <p:nvPr/>
        </p:nvSpPr>
        <p:spPr>
          <a:xfrm>
            <a:off x="9286875" y="4429125"/>
            <a:ext cx="2190750" cy="10477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050" noProof="1">
                <a:solidFill>
                  <a:srgbClr val="1F2937"/>
                </a:solidFill>
                <a:latin typeface="Arial"/>
                <a:ea typeface="MiSans"/>
              </a:rPr>
              <a:t>④ Modules Can Be Quickly Replaced</a:t>
            </a:r>
          </a:p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1F2937"/>
                </a:solidFill>
                <a:latin typeface="Arial"/>
                <a:ea typeface="MiSans"/>
              </a:rPr>
              <a:t>Only new derived classes need to be added when replacing cameras or models, without modifying upper-layer code.</a:t>
            </a:r>
          </a:p>
        </p:txBody>
      </p:sp>
      <p:sp>
        <p:nvSpPr>
          <p:cNvPr id="39" name="dsl:page-num|s=$caption"/>
          <p:cNvSpPr txBox="1"/>
          <p:nvPr/>
        </p:nvSpPr>
        <p:spPr>
          <a:xfrm>
            <a:off x="11239500" y="6572250"/>
            <a:ext cx="5715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B6B82"/>
                </a:solidFill>
                <a:latin typeface="Arial"/>
                <a:ea typeface="MiSan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nav-bar"/>
          <p:cNvSpPr/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nav-text|s=$nav"/>
          <p:cNvSpPr txBox="1"/>
          <p:nvPr/>
        </p:nvSpPr>
        <p:spPr>
          <a:xfrm>
            <a:off x="571500" y="0"/>
            <a:ext cx="38100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050" noProof="1">
                <a:solidFill>
                  <a:srgbClr val="FFFFFF"/>
                </a:solidFill>
                <a:latin typeface="Arial"/>
                <a:ea typeface="MiSans"/>
              </a:rPr>
              <a:t>02 Architecture &amp; C++ Design</a:t>
            </a:r>
          </a:p>
        </p:txBody>
      </p:sp>
      <p:sp>
        <p:nvSpPr>
          <p:cNvPr id="4" name="dsl:nav-accent"/>
          <p:cNvSpPr/>
          <p:nvPr/>
        </p:nvSpPr>
        <p:spPr>
          <a:xfrm>
            <a:off x="0" y="342900"/>
            <a:ext cx="1905000" cy="38100"/>
          </a:xfrm>
          <a:prstGeom prst="rect">
            <a:avLst/>
          </a:prstGeom>
          <a:solidFill>
            <a:srgbClr val="D49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sl:page-title|s=$title"/>
          <p:cNvSpPr txBox="1"/>
          <p:nvPr/>
        </p:nvSpPr>
        <p:spPr>
          <a:xfrm>
            <a:off x="571500" y="571500"/>
            <a:ext cx="85725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2100" noProof="1">
                <a:solidFill>
                  <a:srgbClr val="1B2A4A"/>
                </a:solidFill>
                <a:latin typeface="Arial"/>
                <a:ea typeface="MiSans"/>
              </a:rPr>
              <a:t>File I/O &amp; Qt UI / File I/O &amp; Qt UI</a:t>
            </a:r>
          </a:p>
        </p:txBody>
      </p:sp>
      <p:sp>
        <p:nvSpPr>
          <p:cNvPr id="6" name="dsl:intro-text|s=$body"/>
          <p:cNvSpPr txBox="1"/>
          <p:nvPr/>
        </p:nvSpPr>
        <p:spPr>
          <a:xfrm>
            <a:off x="571500" y="1047750"/>
            <a:ext cx="11049000" cy="4762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50000"/>
              </a:lnSpc>
            </a:pPr>
            <a:r>
              <a:rPr sz="1200" noProof="1">
                <a:solidFill>
                  <a:srgbClr val="1F2937"/>
                </a:solidFill>
                <a:latin typeface="Arial"/>
                <a:ea typeface="MiSans"/>
              </a:rPr>
              <a:t>Relying on C++ standard file streams for binary random log storage, and developing a visual control console based on Qt6, completing data persistence and visual interaction, covering the two module requirements of 'File I/O' and 'Graphical Interface' in the course.</a:t>
            </a:r>
          </a:p>
        </p:txBody>
      </p:sp>
      <p:sp>
        <p:nvSpPr>
          <p:cNvPr id="7" name="dsl:left-title"/>
          <p:cNvSpPr txBox="1"/>
          <p:nvPr/>
        </p:nvSpPr>
        <p:spPr>
          <a:xfrm>
            <a:off x="571500" y="1619250"/>
            <a:ext cx="5143500" cy="2667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350" noProof="1">
                <a:solidFill>
                  <a:srgbClr val="1B2A4A"/>
                </a:solidFill>
                <a:latin typeface="Arial"/>
                <a:ea typeface="MiSans"/>
              </a:rPr>
              <a:t>AuditLogStore / Binary Audit Log</a:t>
            </a:r>
          </a:p>
        </p:txBody>
      </p:sp>
      <p:sp>
        <p:nvSpPr>
          <p:cNvPr id="8" name="dsl:left-tag"/>
          <p:cNvSpPr txBox="1"/>
          <p:nvPr/>
        </p:nvSpPr>
        <p:spPr>
          <a:xfrm>
            <a:off x="571500" y="1905000"/>
            <a:ext cx="5143500" cy="2095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>
                <a:solidFill>
                  <a:srgbClr val="5B6B82"/>
                </a:solidFill>
                <a:latin typeface="Arial"/>
                <a:ea typeface="MiSans"/>
              </a:rPr>
              <a:t>Course Requirement: C++ Random File I/O</a:t>
            </a:r>
          </a:p>
        </p:txBody>
      </p:sp>
      <p:sp>
        <p:nvSpPr>
          <p:cNvPr id="9" name="dsl:left-line"/>
          <p:cNvSpPr/>
          <p:nvPr/>
        </p:nvSpPr>
        <p:spPr>
          <a:xfrm>
            <a:off x="571500" y="2171700"/>
            <a:ext cx="5143500" cy="9525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left-text|s=$body"/>
          <p:cNvSpPr txBox="1"/>
          <p:nvPr/>
        </p:nvSpPr>
        <p:spPr>
          <a:xfrm>
            <a:off x="571500" y="2305050"/>
            <a:ext cx="5143500" cy="23812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1200" noProof="1">
                <a:solidFill>
                  <a:srgbClr val="1F2937"/>
                </a:solidFill>
                <a:latin typeface="Arial"/>
                <a:ea typeface="MiSans"/>
              </a:rPr>
              <a:t>• Binary storage format supporting high-speed append of interaction records</a:t>
            </a:r>
          </a:p>
          <a:p>
            <a:pPr algn="l">
              <a:lnSpc>
                <a:spcPct val="160000"/>
              </a:lnSpc>
            </a:pPr>
            <a:r>
              <a:rPr sz="1200" noProof="1">
                <a:solidFill>
                  <a:srgbClr val="1F2937"/>
                </a:solidFill>
                <a:latin typeface="Arial"/>
                <a:ea typeface="MiSans"/>
              </a:rPr>
              <a:t>• Randomly read by unique record ID, tracing back historical conversations</a:t>
            </a:r>
          </a:p>
          <a:p>
            <a:pPr algn="l">
              <a:lnSpc>
                <a:spcPct val="160000"/>
              </a:lnSpc>
            </a:pPr>
            <a:r>
              <a:rPr sz="1200" noProof="1">
                <a:solidFill>
                  <a:srgbClr val="1F2937"/>
                </a:solidFill>
                <a:latin typeface="Arial"/>
                <a:ea typeface="MiSans"/>
              </a:rPr>
              <a:t>• Update log status fields in place without rewriting the entire file</a:t>
            </a:r>
          </a:p>
          <a:p>
            <a:pPr algn="l">
              <a:lnSpc>
                <a:spcPct val="160000"/>
              </a:lnSpc>
              <a:spcBef>
                <a:spcPts val="750"/>
              </a:spcBef>
            </a:pPr>
            <a:r>
              <a:rPr b="1" sz="1200" noProof="1">
                <a:solidFill>
                  <a:srgbClr val="1F2937"/>
                </a:solidFill>
                <a:latin typeface="Arial"/>
                <a:ea typeface="MiSans"/>
              </a:rPr>
              <a:t>Engineering Value:</a:t>
            </a:r>
            <a:r>
              <a:rPr sz="1200" noProof="1">
                <a:solidFill>
                  <a:srgbClr val="1F2937"/>
                </a:solidFill>
                <a:latin typeface="Arial"/>
                <a:ea typeface="MiSans"/>
              </a:rPr>
              <a:t>Complete retention of interaction data facilitates fault tracing and effect review.</a:t>
            </a:r>
          </a:p>
          <a:p>
            <a:pPr algn="l">
              <a:lnSpc>
                <a:spcPct val="160000"/>
              </a:lnSpc>
              <a:spcBef>
                <a:spcPts val="450"/>
              </a:spcBef>
            </a:pPr>
            <a:r>
              <a:rPr sz="1200" noProof="1">
                <a:solidFill>
                  <a:srgbClr val="5B6B82"/>
                </a:solidFill>
                <a:latin typeface="Arial"/>
                <a:ea typeface="MiSans"/>
              </a:rPr>
              <a:t>Compared to txt, binary read/write is faster and easier for random retrieval by ID.</a:t>
            </a:r>
          </a:p>
        </p:txBody>
      </p:sp>
      <p:sp>
        <p:nvSpPr>
          <p:cNvPr id="11" name="dsl:right-title"/>
          <p:cNvSpPr txBox="1"/>
          <p:nvPr/>
        </p:nvSpPr>
        <p:spPr>
          <a:xfrm>
            <a:off x="6286500" y="1619250"/>
            <a:ext cx="5143500" cy="2667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350" noProof="1">
                <a:solidFill>
                  <a:srgbClr val="1B2A4A"/>
                </a:solidFill>
                <a:latin typeface="Arial"/>
                <a:ea typeface="MiSans"/>
              </a:rPr>
              <a:t>Qt 6 Control Center / Visual Console</a:t>
            </a:r>
          </a:p>
        </p:txBody>
      </p:sp>
      <p:sp>
        <p:nvSpPr>
          <p:cNvPr id="12" name="dsl:right-tag"/>
          <p:cNvSpPr txBox="1"/>
          <p:nvPr/>
        </p:nvSpPr>
        <p:spPr>
          <a:xfrm>
            <a:off x="6286500" y="1905000"/>
            <a:ext cx="5143500" cy="2095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>
                <a:solidFill>
                  <a:srgbClr val="5B6B82"/>
                </a:solidFill>
                <a:latin typeface="Arial"/>
                <a:ea typeface="MiSans"/>
              </a:rPr>
              <a:t>Course Requirement: C++ Graphical User Interface (Qt GUI)</a:t>
            </a:r>
          </a:p>
        </p:txBody>
      </p:sp>
      <p:sp>
        <p:nvSpPr>
          <p:cNvPr id="13" name="dsl:right-line"/>
          <p:cNvSpPr/>
          <p:nvPr/>
        </p:nvSpPr>
        <p:spPr>
          <a:xfrm>
            <a:off x="6286500" y="2171700"/>
            <a:ext cx="5143500" cy="9525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l:right-text|s=$body"/>
          <p:cNvSpPr txBox="1"/>
          <p:nvPr/>
        </p:nvSpPr>
        <p:spPr>
          <a:xfrm>
            <a:off x="6286500" y="2305050"/>
            <a:ext cx="5143500" cy="23812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1200" noProof="1">
                <a:solidFill>
                  <a:srgbClr val="1F2937"/>
                </a:solidFill>
                <a:latin typeface="Arial"/>
                <a:ea typeface="MiSans"/>
              </a:rPr>
              <a:t>• Real-time Interaction Page: Camera View + AI Reply Synchronous Rendering</a:t>
            </a:r>
          </a:p>
          <a:p>
            <a:pPr algn="l">
              <a:lnSpc>
                <a:spcPct val="160000"/>
              </a:lnSpc>
            </a:pPr>
            <a:r>
              <a:rPr sz="1200" noProof="1">
                <a:solidFill>
                  <a:srgbClr val="1F2937"/>
                </a:solidFill>
                <a:latin typeface="Arial"/>
                <a:ea typeface="MiSans"/>
              </a:rPr>
              <a:t>• History Page: Read local logs, display past interactions</a:t>
            </a:r>
          </a:p>
          <a:p>
            <a:pPr algn="l">
              <a:lnSpc>
                <a:spcPct val="160000"/>
              </a:lnSpc>
            </a:pPr>
            <a:r>
              <a:rPr sz="1200" noProof="1">
                <a:solidFill>
                  <a:srgbClr val="1F2937"/>
                </a:solidFill>
                <a:latin typeface="Arial"/>
                <a:ea typeface="MiSans"/>
              </a:rPr>
              <a:t>• Device Diagnosis Page: Monitor serial port, network, microcontroller status</a:t>
            </a:r>
          </a:p>
          <a:p>
            <a:pPr algn="l">
              <a:lnSpc>
                <a:spcPct val="160000"/>
              </a:lnSpc>
            </a:pPr>
            <a:r>
              <a:rPr sz="1200" noProof="1">
                <a:solidFill>
                  <a:srgbClr val="1F2937"/>
                </a:solidFill>
                <a:latin typeface="Arial"/>
                <a:ea typeface="MiSans"/>
              </a:rPr>
              <a:t>• System Settings Page: Parameter configuration, raw log debug window</a:t>
            </a:r>
          </a:p>
          <a:p>
            <a:pPr algn="l">
              <a:lnSpc>
                <a:spcPct val="160000"/>
              </a:lnSpc>
              <a:spcBef>
                <a:spcPts val="750"/>
              </a:spcBef>
            </a:pPr>
            <a:r>
              <a:rPr b="1" sz="1200" noProof="1">
                <a:solidFill>
                  <a:srgbClr val="1F2937"/>
                </a:solidFill>
                <a:latin typeface="Arial"/>
                <a:ea typeface="MiSans"/>
              </a:rPr>
              <a:t>Engineering Value:</a:t>
            </a:r>
            <a:r>
              <a:rPr sz="1200" noProof="1">
                <a:solidFill>
                  <a:srgbClr val="1F2937"/>
                </a:solidFill>
                <a:latin typeface="Arial"/>
                <a:ea typeface="MiSans"/>
              </a:rPr>
              <a:t>Unified visual debugging terminal reduces embedded hardware debugging difficulty.</a:t>
            </a:r>
          </a:p>
        </p:txBody>
      </p:sp>
      <p:sp>
        <p:nvSpPr>
          <p:cNvPr id="15" name="dsl:bottom-box"/>
          <p:cNvSpPr/>
          <p:nvPr/>
        </p:nvSpPr>
        <p:spPr>
          <a:xfrm>
            <a:off x="571500" y="4953000"/>
            <a:ext cx="11049000" cy="952500"/>
          </a:xfrm>
          <a:prstGeom prst="roundRect">
            <a:avLst>
              <a:gd name="adj" fmla="val 6000"/>
            </a:avLst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sl:bottom-text"/>
          <p:cNvSpPr txBox="1"/>
          <p:nvPr/>
        </p:nvSpPr>
        <p:spPr>
          <a:xfrm>
            <a:off x="762000" y="5000625"/>
            <a:ext cx="10668000" cy="8572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200" noProof="1">
                <a:solidFill>
                  <a:srgbClr val="1F2937"/>
                </a:solidFill>
                <a:latin typeface="Arial"/>
                <a:ea typeface="MiSans"/>
              </a:rPr>
              <a:t>Peripheral Local Status Output:</a:t>
            </a:r>
            <a:r>
              <a:rPr sz="1200" noProof="1">
                <a:solidFill>
                  <a:srgbClr val="1F2937"/>
                </a:solidFill>
                <a:latin typeface="Arial"/>
                <a:ea typeface="MiSans"/>
              </a:rPr>
              <a:t>The Raspberry Pi OLED screen relies on systemd user service to auto-start on boot, independent of the PC host. It can independently display hardware local status such as device operation, recognition completion, and fault alarms.</a:t>
            </a:r>
          </a:p>
          <a:p>
            <a:pPr algn="l">
              <a:lnSpc>
                <a:spcPct val="150000"/>
              </a:lnSpc>
            </a:pPr>
            <a:r>
              <a:rPr sz="1200" noProof="1">
                <a:solidFill>
                  <a:srgbClr val="5B6B82"/>
                </a:solidFill>
                <a:latin typeface="Arial"/>
                <a:ea typeface="MiSans"/>
              </a:rPr>
              <a:t>The Pi OLED auto-starts via systemd, providing independent local status display.</a:t>
            </a:r>
          </a:p>
        </p:txBody>
      </p:sp>
      <p:sp>
        <p:nvSpPr>
          <p:cNvPr id="17" name="dsl:page-num|s=$caption"/>
          <p:cNvSpPr txBox="1"/>
          <p:nvPr/>
        </p:nvSpPr>
        <p:spPr>
          <a:xfrm>
            <a:off x="11239500" y="6572250"/>
            <a:ext cx="5715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B6B82"/>
                </a:solidFill>
                <a:latin typeface="Arial"/>
                <a:ea typeface="MiSan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dsl:bg-img" descr="C:\Users\Lenovo\Documents\kimi\workspace\ai_reality_bridge\images\defense-demo.png"/>
          <p:cNvPicPr>
            <a:picLocks noChangeAspect="1"/>
          </p:cNvPicPr>
          <p:nvPr/>
        </p:nvPicPr>
        <p:blipFill>
          <a:blip r:embed="rId2"/>
          <a:srcRect t="7812" b="78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3" name="dsl:mask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B2A4A">
                  <a:alpha val="12549"/>
                </a:srgbClr>
              </a:gs>
              <a:gs pos="50000">
                <a:srgbClr val="1B2A4A">
                  <a:alpha val="60000"/>
                </a:srgbClr>
              </a:gs>
              <a:gs pos="100000">
                <a:srgbClr val="1B2A4A">
                  <a:alpha val="90196"/>
                </a:srgbClr>
              </a:gs>
            </a:gsLst>
            <a:lin scaled="0" ang="5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ch-num"/>
          <p:cNvSpPr txBox="1"/>
          <p:nvPr/>
        </p:nvSpPr>
        <p:spPr>
          <a:xfrm>
            <a:off x="952500" y="1714500"/>
            <a:ext cx="2857500" cy="1143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7200" noProof="1">
                <a:solidFill>
                  <a:srgbClr val="D4943A"/>
                </a:solidFill>
                <a:latin typeface="Arial"/>
                <a:ea typeface="MiSans"/>
              </a:rPr>
              <a:t>03</a:t>
            </a:r>
          </a:p>
        </p:txBody>
      </p:sp>
      <p:sp>
        <p:nvSpPr>
          <p:cNvPr id="5" name="dsl:ch-title-en"/>
          <p:cNvSpPr txBox="1"/>
          <p:nvPr/>
        </p:nvSpPr>
        <p:spPr>
          <a:xfrm>
            <a:off x="952500" y="3048000"/>
            <a:ext cx="7620000" cy="52387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2700" noProof="1">
                <a:solidFill>
                  <a:srgbClr val="FFFFFF"/>
                </a:solidFill>
                <a:latin typeface="Arial"/>
                <a:ea typeface="MiSans"/>
              </a:rPr>
              <a:t>Testing &amp; Validation</a:t>
            </a:r>
          </a:p>
        </p:txBody>
      </p:sp>
      <p:sp>
        <p:nvSpPr>
          <p:cNvPr id="6" name="dsl:ch-title-cn"/>
          <p:cNvSpPr txBox="1"/>
          <p:nvPr/>
        </p:nvSpPr>
        <p:spPr>
          <a:xfrm>
            <a:off x="952500" y="3667125"/>
            <a:ext cx="7620000" cy="33337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650" noProof="1">
                <a:solidFill>
                  <a:srgbClr val="FFFFFF">
                    <a:alpha val="80000"/>
                  </a:srgbClr>
                </a:solidFill>
                <a:latin typeface="Arial"/>
                <a:ea typeface="MiSans"/>
              </a:rPr>
              <a:t>Testing &amp; Validation</a:t>
            </a:r>
          </a:p>
        </p:txBody>
      </p:sp>
      <p:sp>
        <p:nvSpPr>
          <p:cNvPr id="7" name="dsl:accent-line"/>
          <p:cNvSpPr/>
          <p:nvPr/>
        </p:nvSpPr>
        <p:spPr>
          <a:xfrm>
            <a:off x="952500" y="4191000"/>
            <a:ext cx="1143000" cy="38100"/>
          </a:xfrm>
          <a:prstGeom prst="rect">
            <a:avLst/>
          </a:prstGeom>
          <a:solidFill>
            <a:srgbClr val="D49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nav-bar"/>
          <p:cNvSpPr/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nav-text|s=$nav"/>
          <p:cNvSpPr txBox="1"/>
          <p:nvPr/>
        </p:nvSpPr>
        <p:spPr>
          <a:xfrm>
            <a:off x="571500" y="0"/>
            <a:ext cx="38100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050" noProof="1">
                <a:solidFill>
                  <a:srgbClr val="FFFFFF"/>
                </a:solidFill>
                <a:latin typeface="Arial"/>
                <a:ea typeface="MiSans"/>
              </a:rPr>
              <a:t>03 Testing &amp; Validation</a:t>
            </a:r>
          </a:p>
        </p:txBody>
      </p:sp>
      <p:sp>
        <p:nvSpPr>
          <p:cNvPr id="4" name="dsl:nav-accent"/>
          <p:cNvSpPr/>
          <p:nvPr/>
        </p:nvSpPr>
        <p:spPr>
          <a:xfrm>
            <a:off x="0" y="342900"/>
            <a:ext cx="1905000" cy="38100"/>
          </a:xfrm>
          <a:prstGeom prst="rect">
            <a:avLst/>
          </a:prstGeom>
          <a:solidFill>
            <a:srgbClr val="D49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sl:page-title|s=$title"/>
          <p:cNvSpPr txBox="1"/>
          <p:nvPr/>
        </p:nvSpPr>
        <p:spPr>
          <a:xfrm>
            <a:off x="571500" y="571500"/>
            <a:ext cx="85725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2100" noProof="1">
                <a:solidFill>
                  <a:srgbClr val="1B2A4A"/>
                </a:solidFill>
                <a:latin typeface="Arial"/>
                <a:ea typeface="MiSans"/>
              </a:rPr>
              <a:t>Testing Matrix &amp; Exception Handling / Testing &amp; Exception Handling</a:t>
            </a:r>
          </a:p>
        </p:txBody>
      </p:sp>
      <p:sp>
        <p:nvSpPr>
          <p:cNvPr id="6" name="dsl:test-table-title"/>
          <p:cNvSpPr txBox="1"/>
          <p:nvPr/>
        </p:nvSpPr>
        <p:spPr>
          <a:xfrm>
            <a:off x="571500" y="1095375"/>
            <a:ext cx="4762500" cy="2476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350" noProof="1">
                <a:solidFill>
                  <a:srgbClr val="1B2A4A"/>
                </a:solidFill>
                <a:latin typeface="Arial"/>
                <a:ea typeface="MiSans"/>
              </a:rPr>
              <a:t>Functional Testing Matrix / Functional Testing Matrix</a:t>
            </a:r>
          </a:p>
        </p:txBody>
      </p:sp>
      <p:graphicFrame>
        <p:nvGraphicFramePr>
          <p:cNvPr id="7" name="dsl:test-table"/>
          <p:cNvGraphicFramePr>
            <a:graphicFrameLocks noGrp="1"/>
          </p:cNvGraphicFramePr>
          <p:nvPr/>
        </p:nvGraphicFramePr>
        <p:xfrm>
          <a:off x="571500" y="1409700"/>
          <a:ext cx="11048999" cy="2762248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1325880"/>
                <a:gridCol w="1104900"/>
                <a:gridCol w="1546860"/>
                <a:gridCol w="883920"/>
                <a:gridCol w="1988819"/>
                <a:gridCol w="4198620"/>
              </a:tblGrid>
              <a:tr h="359092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FFFFFF"/>
                          </a:solidFill>
                          <a:latin typeface="Arial"/>
                          <a:ea typeface="MiSans"/>
                        </a:rPr>
                        <a:t>Test Item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FFFFFF"/>
                          </a:solidFill>
                          <a:latin typeface="Arial"/>
                          <a:ea typeface="MiSans"/>
                        </a:rPr>
                        <a:t>Input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FFFFFF"/>
                          </a:solidFill>
                          <a:latin typeface="Arial"/>
                          <a:ea typeface="MiSans"/>
                        </a:rPr>
                        <a:t>Expected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FFFFFF"/>
                          </a:solidFill>
                          <a:latin typeface="Arial"/>
                          <a:ea typeface="MiSans"/>
                        </a:rPr>
                        <a:t>Result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FFFFFF"/>
                          </a:solidFill>
                          <a:latin typeface="Arial"/>
                          <a:ea typeface="MiSans"/>
                        </a:rPr>
                        <a:t>C++ Class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FFFFFF"/>
                          </a:solidFill>
                          <a:latin typeface="Arial"/>
                          <a:ea typeface="MiSans"/>
                        </a:rPr>
                        <a:t>Testing Purpose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</a:tr>
              <a:tr h="400526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F2937"/>
                          </a:solidFill>
                          <a:latin typeface="Arial"/>
                          <a:ea typeface="MiSans"/>
                        </a:rPr>
                        <a:t>Serial Port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Arial"/>
                          <a:ea typeface="MiSans"/>
                        </a:rPr>
                        <a:t>/dev/ttyACM0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Arial"/>
                          <a:ea typeface="MiSans"/>
                        </a:rPr>
                        <a:t>Bi-directional data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Arial"/>
                          <a:ea typeface="MiSans"/>
                        </a:rPr>
                        <a:t>✓ Pass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Arial"/>
                          <a:ea typeface="MiSans"/>
                        </a:rPr>
                        <a:t>SerialPort / HardwareBridge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Arial"/>
                          <a:ea typeface="MiSans"/>
                        </a:rPr>
                        <a:t>Verify serial port encapsulation class, implementing command interaction between MCU and host computer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0526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F2937"/>
                          </a:solidFill>
                          <a:latin typeface="Arial"/>
                          <a:ea typeface="MiSans"/>
                        </a:rPr>
                        <a:t>Camera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Arial"/>
                          <a:ea typeface="MiSans"/>
                        </a:rPr>
                        <a:t>C270 USB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Arial"/>
                          <a:ea typeface="MiSans"/>
                        </a:rPr>
                        <a:t>1280×720 JPEG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Arial"/>
                          <a:ea typeface="MiSans"/>
                        </a:rPr>
                        <a:t>✓ Pass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Arial"/>
                          <a:ea typeface="MiSans"/>
                        </a:rPr>
                        <a:t>OpenCvCameraService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Arial"/>
                          <a:ea typeface="MiSans"/>
                        </a:rPr>
                        <a:t>Verify OpenCV image capture encapsulation, meeting real-time capture requirements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E8EDF3"/>
                    </a:solidFill>
                  </a:tcPr>
                </a:tc>
              </a:tr>
              <a:tr h="400526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F2937"/>
                          </a:solidFill>
                          <a:latin typeface="Arial"/>
                          <a:ea typeface="MiSans"/>
                        </a:rPr>
                        <a:t>Voice Recording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Arial"/>
                          <a:ea typeface="MiSans"/>
                        </a:rPr>
                        <a:t>5s trigger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Arial"/>
                          <a:ea typeface="MiSans"/>
                        </a:rPr>
                        <a:t>WAV file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Arial"/>
                          <a:ea typeface="MiSans"/>
                        </a:rPr>
                        <a:t>✓ Pass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Arial"/>
                          <a:ea typeface="MiSans"/>
                        </a:rPr>
                        <a:t>ShellAudioRecorder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Arial"/>
                          <a:ea typeface="MiSans"/>
                        </a:rPr>
                        <a:t>Verify audio I/O encapsulation, implementing hands-free voice input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0526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F2937"/>
                          </a:solidFill>
                          <a:latin typeface="Arial"/>
                          <a:ea typeface="MiSans"/>
                        </a:rPr>
                        <a:t>ASR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Arial"/>
                          <a:ea typeface="MiSans"/>
                        </a:rPr>
                        <a:t>WAV upload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Arial"/>
                          <a:ea typeface="MiSans"/>
                        </a:rPr>
                        <a:t>Chinese text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Arial"/>
                          <a:ea typeface="MiSans"/>
                        </a:rPr>
                        <a:t>✓ Pass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Arial"/>
                          <a:ea typeface="MiSans"/>
                        </a:rPr>
                        <a:t>QwenAsrService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Arial"/>
                          <a:ea typeface="MiSans"/>
                        </a:rPr>
                        <a:t>Verify speech recognition, replacing manual text input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E8EDF3"/>
                    </a:solidFill>
                  </a:tcPr>
                </a:tc>
              </a:tr>
              <a:tr h="400526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F2937"/>
                          </a:solidFill>
                          <a:latin typeface="Arial"/>
                          <a:ea typeface="MiSans"/>
                        </a:rPr>
                        <a:t>Qwen-VL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Arial"/>
                          <a:ea typeface="MiSans"/>
                        </a:rPr>
                        <a:t>Image + text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Arial"/>
                          <a:ea typeface="MiSans"/>
                        </a:rPr>
                        <a:t>JSON result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Arial"/>
                          <a:ea typeface="MiSans"/>
                        </a:rPr>
                        <a:t>✓ Pass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Arial"/>
                          <a:ea typeface="MiSans"/>
                        </a:rPr>
                        <a:t>QwenVisionService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Arial"/>
                          <a:ea typeface="MiSans"/>
                        </a:rPr>
                        <a:t>Verify large model API calls, implementing image-text joint analysis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0526">
                <a:tc>
                  <a:txBody>
                    <a:bodyPr wrap="square" anchor="t">
                      <a:noAutofit/>
                    </a:bodyPr>
                    <a:lstStyle/>
                    <a:p>
                      <a:pPr algn="l">
                        <a:defRPr sz="1350">
                          <a:latin typeface="MiSans"/>
                          <a:ea typeface="MiSans"/>
                        </a:defRPr>
                      </a:pPr>
                      <a:r>
                        <a:rPr sz="1350" b="1">
                          <a:solidFill>
                            <a:srgbClr val="1F2937"/>
                          </a:solidFill>
                          <a:latin typeface="MiSans"/>
                          <a:ea typeface="MiSans"/>
                        </a:rPr>
                        <a:t/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 wrap="square" anchor="t">
                      <a:noAutofit/>
                    </a:bodyPr>
                    <a:lstStyle/>
                    <a:p>
                      <a:pPr algn="l">
                        <a:defRPr sz="1350">
                          <a:latin typeface="MiSans"/>
                          <a:ea typeface="MiSans"/>
                        </a:defRPr>
                      </a:pPr>
                      <a:r>
                        <a:rPr sz="1350">
                          <a:solidFill>
                            <a:srgbClr val="1F2937"/>
                          </a:solidFill>
                          <a:latin typeface="MiSans"/>
                          <a:ea typeface="MiSans"/>
                        </a:rPr>
                        <a:t/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 wrap="square" anchor="t">
                      <a:noAutofit/>
                    </a:bodyPr>
                    <a:lstStyle/>
                    <a:p>
                      <a:pPr algn="l">
                        <a:defRPr sz="1350">
                          <a:latin typeface="MiSans"/>
                          <a:ea typeface="MiSans"/>
                        </a:defRPr>
                      </a:pPr>
                      <a:r>
                        <a:rPr sz="1350">
                          <a:solidFill>
                            <a:srgbClr val="1F2937"/>
                          </a:solidFill>
                          <a:latin typeface="MiSans"/>
                          <a:ea typeface="MiSans"/>
                        </a:rPr>
                        <a:t/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 wrap="square" anchor="t">
                      <a:noAutofit/>
                    </a:bodyPr>
                    <a:lstStyle/>
                    <a:p>
                      <a:pPr algn="l">
                        <a:defRPr sz="1350">
                          <a:latin typeface="MiSans"/>
                          <a:ea typeface="MiSans"/>
                        </a:defRPr>
                      </a:pPr>
                      <a:r>
                        <a:rPr sz="1350">
                          <a:solidFill>
                            <a:srgbClr val="1F2937"/>
                          </a:solidFill>
                          <a:latin typeface="MiSans"/>
                          <a:ea typeface="MiSans"/>
                        </a:rPr>
                        <a:t/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 wrap="square" anchor="t">
                      <a:noAutofit/>
                    </a:bodyPr>
                    <a:lstStyle/>
                    <a:p>
                      <a:pPr algn="l">
                        <a:defRPr sz="1350">
                          <a:latin typeface="MiSans"/>
                          <a:ea typeface="MiSans"/>
                        </a:defRPr>
                      </a:pPr>
                      <a:r>
                        <a:rPr sz="1350">
                          <a:solidFill>
                            <a:srgbClr val="1F2937"/>
                          </a:solidFill>
                          <a:latin typeface="MiSans"/>
                          <a:ea typeface="MiSans"/>
                        </a:rPr>
                        <a:t/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 wrap="square" anchor="t">
                      <a:noAutofit/>
                    </a:bodyPr>
                    <a:lstStyle/>
                    <a:p>
                      <a:pPr algn="l">
                        <a:defRPr sz="1350">
                          <a:latin typeface="MiSans"/>
                          <a:ea typeface="MiSans"/>
                        </a:defRPr>
                      </a:pPr>
                      <a:r>
                        <a:rPr sz="1350">
                          <a:solidFill>
                            <a:srgbClr val="1F2937"/>
                          </a:solidFill>
                          <a:latin typeface="MiSans"/>
                          <a:ea typeface="MiSans"/>
                        </a:rPr>
                        <a:t/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E8EDF3"/>
                    </a:solidFill>
                  </a:tcPr>
                </a:tc>
              </a:tr>
            </a:tbl>
          </a:graphicData>
        </a:graphic>
      </p:graphicFrame>
      <p:sp>
        <p:nvSpPr>
          <p:cNvPr id="8" name="dsl:ex-title"/>
          <p:cNvSpPr txBox="1"/>
          <p:nvPr/>
        </p:nvSpPr>
        <p:spPr>
          <a:xfrm>
            <a:off x="571500" y="4286250"/>
            <a:ext cx="4762500" cy="2476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350" noProof="1">
                <a:solidFill>
                  <a:srgbClr val="1B2A4A"/>
                </a:solidFill>
                <a:latin typeface="Arial"/>
                <a:ea typeface="MiSans"/>
              </a:rPr>
              <a:t>Exception Handling / Exception Handling</a:t>
            </a:r>
          </a:p>
        </p:txBody>
      </p:sp>
      <p:sp>
        <p:nvSpPr>
          <p:cNvPr id="9" name="dsl:ex-line"/>
          <p:cNvSpPr/>
          <p:nvPr/>
        </p:nvSpPr>
        <p:spPr>
          <a:xfrm>
            <a:off x="571500" y="4619625"/>
            <a:ext cx="11049000" cy="9525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ex-text|s=$body"/>
          <p:cNvSpPr txBox="1"/>
          <p:nvPr/>
        </p:nvSpPr>
        <p:spPr>
          <a:xfrm>
            <a:off x="571500" y="4762500"/>
            <a:ext cx="11049000" cy="18097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1125" noProof="1">
                <a:solidFill>
                  <a:srgbClr val="1F2937"/>
                </a:solidFill>
                <a:latin typeface="Arial"/>
                <a:ea typeface="MiSans"/>
              </a:rPr>
              <a:t>• Serial port device change → Auto-scan /dev/ttyACM* and reconnect</a:t>
            </a:r>
          </a:p>
          <a:p>
            <a:pPr algn="l">
              <a:lnSpc>
                <a:spcPct val="160000"/>
              </a:lnSpc>
            </a:pPr>
            <a:r>
              <a:rPr sz="1125" noProof="1">
                <a:solidFill>
                  <a:srgbClr val="1F2937"/>
                </a:solidFill>
                <a:latin typeface="Arial"/>
                <a:ea typeface="MiSans"/>
              </a:rPr>
              <a:t>• Camera unreadable → Capture exception, use the last cached frame</a:t>
            </a:r>
          </a:p>
          <a:p>
            <a:pPr algn="l">
              <a:lnSpc>
                <a:spcPct val="160000"/>
              </a:lnSpc>
            </a:pPr>
            <a:r>
              <a:rPr sz="1125" noProof="1">
                <a:solidFill>
                  <a:srgbClr val="1F2937"/>
                </a:solidFill>
                <a:latin typeface="Arial"/>
                <a:ea typeface="MiSans"/>
              </a:rPr>
              <a:t>• ASR service failure → Degrade to text prompt input without interrupting the main process</a:t>
            </a:r>
          </a:p>
          <a:p>
            <a:pPr algn="l">
              <a:lnSpc>
                <a:spcPct val="160000"/>
              </a:lnSpc>
            </a:pPr>
            <a:r>
              <a:rPr sz="1125" noProof="1">
                <a:solidFill>
                  <a:srgbClr val="1F2937"/>
                </a:solidFill>
                <a:latin typeface="Arial"/>
                <a:ea typeface="MiSans"/>
              </a:rPr>
              <a:t>• Network disconnection → Red LED flashing + OLED error code + Qt status bar prompt</a:t>
            </a:r>
          </a:p>
          <a:p>
            <a:pPr algn="l">
              <a:lnSpc>
                <a:spcPct val="160000"/>
              </a:lnSpc>
            </a:pPr>
            <a:r>
              <a:rPr sz="1125" noProof="1">
                <a:solidFill>
                  <a:srgbClr val="1F2937"/>
                </a:solidFill>
                <a:latin typeface="Arial"/>
                <a:ea typeface="MiSans"/>
              </a:rPr>
              <a:t>• API timeout → Exponential backoff retry, up to 3 times</a:t>
            </a:r>
          </a:p>
          <a:p>
            <a:pPr algn="l">
              <a:lnSpc>
                <a:spcPct val="160000"/>
              </a:lnSpc>
            </a:pPr>
            <a:r>
              <a:rPr sz="1125" noProof="1">
                <a:solidFill>
                  <a:srgbClr val="1F2937"/>
                </a:solidFill>
                <a:latin typeface="Arial"/>
                <a:ea typeface="MiSans"/>
              </a:rPr>
              <a:t>• Chinese encoding → Force UTF-8 end-to-end processing</a:t>
            </a:r>
          </a:p>
        </p:txBody>
      </p:sp>
      <p:sp>
        <p:nvSpPr>
          <p:cNvPr id="11" name="dsl:page-num|s=$caption"/>
          <p:cNvSpPr txBox="1"/>
          <p:nvPr/>
        </p:nvSpPr>
        <p:spPr>
          <a:xfrm>
            <a:off x="11239500" y="6572250"/>
            <a:ext cx="5715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B6B82"/>
                </a:solidFill>
                <a:latin typeface="Arial"/>
                <a:ea typeface="MiSans"/>
              </a:rPr>
              <a:t>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dsl:bg-img" descr="C:\Users\Lenovo\Documents\kimi\workspace\ai_reality_bridge\images\product-screenshot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3" name="dsl:mask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B2A4A">
                  <a:alpha val="12549"/>
                </a:srgbClr>
              </a:gs>
              <a:gs pos="50000">
                <a:srgbClr val="1B2A4A">
                  <a:alpha val="60000"/>
                </a:srgbClr>
              </a:gs>
              <a:gs pos="100000">
                <a:srgbClr val="1B2A4A">
                  <a:alpha val="90196"/>
                </a:srgbClr>
              </a:gs>
            </a:gsLst>
            <a:lin scaled="0" ang="5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ch-num"/>
          <p:cNvSpPr txBox="1"/>
          <p:nvPr/>
        </p:nvSpPr>
        <p:spPr>
          <a:xfrm>
            <a:off x="952500" y="1714500"/>
            <a:ext cx="2857500" cy="1143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7200" noProof="1">
                <a:solidFill>
                  <a:srgbClr val="D4943A"/>
                </a:solidFill>
                <a:latin typeface="Arial"/>
                <a:ea typeface="MiSans"/>
              </a:rPr>
              <a:t>04</a:t>
            </a:r>
          </a:p>
        </p:txBody>
      </p:sp>
      <p:sp>
        <p:nvSpPr>
          <p:cNvPr id="5" name="dsl:ch-title-en"/>
          <p:cNvSpPr txBox="1"/>
          <p:nvPr/>
        </p:nvSpPr>
        <p:spPr>
          <a:xfrm>
            <a:off x="952500" y="3048000"/>
            <a:ext cx="7620000" cy="52387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2700" noProof="1">
                <a:solidFill>
                  <a:srgbClr val="FFFFFF"/>
                </a:solidFill>
                <a:latin typeface="Arial"/>
                <a:ea typeface="MiSans"/>
              </a:rPr>
              <a:t>Conclusion &amp; Team</a:t>
            </a:r>
          </a:p>
        </p:txBody>
      </p:sp>
      <p:sp>
        <p:nvSpPr>
          <p:cNvPr id="6" name="dsl:ch-title-cn"/>
          <p:cNvSpPr txBox="1"/>
          <p:nvPr/>
        </p:nvSpPr>
        <p:spPr>
          <a:xfrm>
            <a:off x="952500" y="3667125"/>
            <a:ext cx="7620000" cy="33337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650" noProof="1">
                <a:solidFill>
                  <a:srgbClr val="FFFFFF">
                    <a:alpha val="80000"/>
                  </a:srgbClr>
                </a:solidFill>
                <a:latin typeface="Arial"/>
                <a:ea typeface="MiSans"/>
              </a:rPr>
              <a:t>Conclusion &amp; Team</a:t>
            </a:r>
          </a:p>
        </p:txBody>
      </p:sp>
      <p:sp>
        <p:nvSpPr>
          <p:cNvPr id="7" name="dsl:accent-line"/>
          <p:cNvSpPr/>
          <p:nvPr/>
        </p:nvSpPr>
        <p:spPr>
          <a:xfrm>
            <a:off x="952500" y="4191000"/>
            <a:ext cx="1143000" cy="38100"/>
          </a:xfrm>
          <a:prstGeom prst="rect">
            <a:avLst/>
          </a:prstGeom>
          <a:solidFill>
            <a:srgbClr val="D49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nav-bar"/>
          <p:cNvSpPr/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nav-text|s=$nav"/>
          <p:cNvSpPr txBox="1"/>
          <p:nvPr/>
        </p:nvSpPr>
        <p:spPr>
          <a:xfrm>
            <a:off x="571500" y="0"/>
            <a:ext cx="38100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050" noProof="1">
                <a:solidFill>
                  <a:srgbClr val="FFFFFF"/>
                </a:solidFill>
                <a:latin typeface="Arial"/>
                <a:ea typeface="MiSans"/>
              </a:rPr>
              <a:t>04 Conclusion &amp; Team</a:t>
            </a:r>
          </a:p>
        </p:txBody>
      </p:sp>
      <p:sp>
        <p:nvSpPr>
          <p:cNvPr id="4" name="dsl:nav-accent"/>
          <p:cNvSpPr/>
          <p:nvPr/>
        </p:nvSpPr>
        <p:spPr>
          <a:xfrm>
            <a:off x="0" y="342900"/>
            <a:ext cx="1905000" cy="38100"/>
          </a:xfrm>
          <a:prstGeom prst="rect">
            <a:avLst/>
          </a:prstGeom>
          <a:solidFill>
            <a:srgbClr val="D49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sl:page-title|s=$title"/>
          <p:cNvSpPr txBox="1"/>
          <p:nvPr/>
        </p:nvSpPr>
        <p:spPr>
          <a:xfrm>
            <a:off x="571500" y="571500"/>
            <a:ext cx="85725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2100" noProof="1">
                <a:solidFill>
                  <a:srgbClr val="1B2A4A"/>
                </a:solidFill>
                <a:latin typeface="Arial"/>
                <a:ea typeface="MiSans"/>
              </a:rPr>
              <a:t>Course Requirements &amp; Team Mapping / Course Requirements &amp; Team Mapping</a:t>
            </a:r>
          </a:p>
        </p:txBody>
      </p:sp>
      <p:sp>
        <p:nvSpPr>
          <p:cNvPr id="6" name="dsl:req-table-title"/>
          <p:cNvSpPr txBox="1"/>
          <p:nvPr/>
        </p:nvSpPr>
        <p:spPr>
          <a:xfrm>
            <a:off x="571500" y="1095375"/>
            <a:ext cx="4762500" cy="2476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350" noProof="1">
                <a:solidFill>
                  <a:srgbClr val="1B2A4A"/>
                </a:solidFill>
                <a:latin typeface="Arial"/>
                <a:ea typeface="MiSans"/>
              </a:rPr>
              <a:t>Course Requirements Mapping / Course Requirements Mapping</a:t>
            </a:r>
          </a:p>
        </p:txBody>
      </p:sp>
      <p:graphicFrame>
        <p:nvGraphicFramePr>
          <p:cNvPr id="7" name="dsl:req-table"/>
          <p:cNvGraphicFramePr>
            <a:graphicFrameLocks noGrp="1"/>
          </p:cNvGraphicFramePr>
          <p:nvPr/>
        </p:nvGraphicFramePr>
        <p:xfrm>
          <a:off x="571500" y="1428750"/>
          <a:ext cx="11049000" cy="2095500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2209800"/>
                <a:gridCol w="4972050"/>
                <a:gridCol w="3867150"/>
              </a:tblGrid>
              <a:tr h="356235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FFFFFF"/>
                          </a:solidFill>
                          <a:latin typeface="Arial"/>
                          <a:ea typeface="MiSans"/>
                        </a:rPr>
                        <a:t>Requirement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FFFFFF"/>
                          </a:solidFill>
                          <a:latin typeface="Arial"/>
                          <a:ea typeface="MiSans"/>
                        </a:rPr>
                        <a:t>Implementation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FFFFFF"/>
                          </a:solidFill>
                          <a:latin typeface="Arial"/>
                          <a:ea typeface="MiSans"/>
                        </a:rPr>
                        <a:t>Evidence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</a:tr>
              <a:tr h="347853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F2937"/>
                          </a:solidFill>
                          <a:latin typeface="Arial"/>
                          <a:ea typeface="MiSans"/>
                        </a:rPr>
                        <a:t>UI Interface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Arial"/>
                          <a:ea typeface="MiSans"/>
                        </a:rPr>
                        <a:t>Qt 6 Windows Control Center + Raspberry Pi LCD local display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Arial"/>
                          <a:ea typeface="MiSans"/>
                        </a:rPr>
                        <a:t>Screenshots + LCD photos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7853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F2937"/>
                          </a:solidFill>
                          <a:latin typeface="Arial"/>
                          <a:ea typeface="MiSans"/>
                        </a:rPr>
                        <a:t>Classes &amp; Objects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Arial"/>
                          <a:ea typeface="MiSans"/>
                        </a:rPr>
                        <a:t>App, HardwareBridge, SerialPort, QwenVisionService, etc.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Arial"/>
                          <a:ea typeface="MiSans"/>
                        </a:rPr>
                        <a:t>Class diagram + code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E8EDF3"/>
                    </a:solidFill>
                  </a:tcPr>
                </a:tc>
              </a:tr>
              <a:tr h="347853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F2937"/>
                          </a:solidFill>
                          <a:latin typeface="Arial"/>
                          <a:ea typeface="MiSans"/>
                        </a:rPr>
                        <a:t>Inheritance &amp; Polymorphism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Arial"/>
                          <a:ea typeface="MiSans"/>
                        </a:rPr>
                        <a:t>CameraService/OpenCvCameraService, AiVisionService/QwenVisionService/MockAiVisionService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Arial"/>
                          <a:ea typeface="MiSans"/>
                        </a:rPr>
                        <a:t>Inheritance graph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7853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F2937"/>
                          </a:solidFill>
                          <a:latin typeface="Arial"/>
                          <a:ea typeface="MiSans"/>
                        </a:rPr>
                        <a:t>Random File I/O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Arial"/>
                          <a:ea typeface="MiSans"/>
                        </a:rPr>
                        <a:t>AuditLogStore binary log: append, read, update-by-ID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Arial"/>
                          <a:ea typeface="MiSans"/>
                        </a:rPr>
                        <a:t>Log file + history page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E8EDF3"/>
                    </a:solidFill>
                  </a:tcPr>
                </a:tc>
              </a:tr>
              <a:tr h="347853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F2937"/>
                          </a:solidFill>
                          <a:latin typeface="Arial"/>
                          <a:ea typeface="MiSans"/>
                        </a:rPr>
                        <a:t>Code Scale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Arial"/>
                          <a:ea typeface="MiSans"/>
                        </a:rPr>
                        <a:t>Bridge + NUCLEO firmware + Qt center, &gt;2000 lines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Arial"/>
                          <a:ea typeface="MiSans"/>
                        </a:rPr>
                        <a:t>Code statistics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dsl:team-table-title"/>
          <p:cNvSpPr txBox="1"/>
          <p:nvPr/>
        </p:nvSpPr>
        <p:spPr>
          <a:xfrm>
            <a:off x="571500" y="3714750"/>
            <a:ext cx="4762500" cy="2476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350" noProof="1">
                <a:solidFill>
                  <a:srgbClr val="1B2A4A"/>
                </a:solidFill>
                <a:latin typeface="Arial"/>
                <a:ea typeface="MiSans"/>
              </a:rPr>
              <a:t>Team Task Completion / Team Task Completion Table</a:t>
            </a:r>
          </a:p>
        </p:txBody>
      </p:sp>
      <p:graphicFrame>
        <p:nvGraphicFramePr>
          <p:cNvPr id="9" name="dsl:team-table"/>
          <p:cNvGraphicFramePr>
            <a:graphicFrameLocks noGrp="1"/>
          </p:cNvGraphicFramePr>
          <p:nvPr/>
        </p:nvGraphicFramePr>
        <p:xfrm>
          <a:off x="571500" y="4048125"/>
          <a:ext cx="11048995" cy="1905000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1546860"/>
                <a:gridCol w="1900427"/>
                <a:gridCol w="1900427"/>
                <a:gridCol w="1900427"/>
                <a:gridCol w="1900427"/>
                <a:gridCol w="1900427"/>
              </a:tblGrid>
              <a:tr h="3810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FFFFFF"/>
                          </a:solidFill>
                          <a:latin typeface="Arial"/>
                          <a:ea typeface="MiSans"/>
                        </a:rPr>
                        <a:t>Member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FFFFFF"/>
                          </a:solidFill>
                          <a:latin typeface="Arial"/>
                          <a:ea typeface="MiSans"/>
                        </a:rPr>
                        <a:t>Backend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FFFFFF"/>
                          </a:solidFill>
                          <a:latin typeface="Arial"/>
                          <a:ea typeface="MiSans"/>
                        </a:rPr>
                        <a:t>Qt UI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FFFFFF"/>
                          </a:solidFill>
                          <a:latin typeface="Arial"/>
                          <a:ea typeface="MiSans"/>
                        </a:rPr>
                        <a:t>Embedded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FFFFFF"/>
                          </a:solidFill>
                          <a:latin typeface="Arial"/>
                          <a:ea typeface="MiSans"/>
                        </a:rPr>
                        <a:t>AI API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FFFFFF"/>
                          </a:solidFill>
                          <a:latin typeface="Arial"/>
                          <a:ea typeface="MiSans"/>
                        </a:rPr>
                        <a:t>Document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</a:tr>
              <a:tr h="3810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F2937"/>
                          </a:solidFill>
                          <a:latin typeface="Arial"/>
                          <a:ea typeface="MiSans"/>
                        </a:rPr>
                        <a:t>Member A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Arial"/>
                          <a:ea typeface="MiSans"/>
                        </a:rPr>
                        <a:t>✓ Completed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Arial"/>
                          <a:ea typeface="MiSans"/>
                        </a:rPr>
                        <a:t>✓ Completed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Arial"/>
                          <a:ea typeface="MiSans"/>
                        </a:rPr>
                        <a:t>—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Arial"/>
                          <a:ea typeface="MiSans"/>
                        </a:rPr>
                        <a:t>—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Arial"/>
                          <a:ea typeface="MiSans"/>
                        </a:rPr>
                        <a:t>✓ Completed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F2937"/>
                          </a:solidFill>
                          <a:latin typeface="Arial"/>
                          <a:ea typeface="MiSans"/>
                        </a:rPr>
                        <a:t>Member B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Arial"/>
                          <a:ea typeface="MiSans"/>
                        </a:rPr>
                        <a:t>—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Arial"/>
                          <a:ea typeface="MiSans"/>
                        </a:rPr>
                        <a:t>—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Arial"/>
                          <a:ea typeface="MiSans"/>
                        </a:rPr>
                        <a:t>✓ Completed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Arial"/>
                          <a:ea typeface="MiSans"/>
                        </a:rPr>
                        <a:t>✓ Completed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Arial"/>
                          <a:ea typeface="MiSans"/>
                        </a:rPr>
                        <a:t>—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E8EDF3"/>
                    </a:solidFill>
                  </a:tcPr>
                </a:tc>
              </a:tr>
              <a:tr h="3810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F2937"/>
                          </a:solidFill>
                          <a:latin typeface="Arial"/>
                          <a:ea typeface="MiSans"/>
                        </a:rPr>
                        <a:t>Member C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Arial"/>
                          <a:ea typeface="MiSans"/>
                        </a:rPr>
                        <a:t>✓ Completed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Arial"/>
                          <a:ea typeface="MiSans"/>
                        </a:rPr>
                        <a:t>✓ Completed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Arial"/>
                          <a:ea typeface="MiSans"/>
                        </a:rPr>
                        <a:t>✓ Completed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Arial"/>
                          <a:ea typeface="MiSans"/>
                        </a:rPr>
                        <a:t>—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Arial"/>
                          <a:ea typeface="MiSans"/>
                        </a:rPr>
                        <a:t>—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F2937"/>
                          </a:solidFill>
                          <a:latin typeface="Arial"/>
                          <a:ea typeface="MiSans"/>
                        </a:rPr>
                        <a:t>Member D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Arial"/>
                          <a:ea typeface="MiSans"/>
                        </a:rPr>
                        <a:t>—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Arial"/>
                          <a:ea typeface="MiSans"/>
                        </a:rPr>
                        <a:t>—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Arial"/>
                          <a:ea typeface="MiSans"/>
                        </a:rPr>
                        <a:t>✓ Completed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Arial"/>
                          <a:ea typeface="MiSans"/>
                        </a:rPr>
                        <a:t>✓ Completed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Arial"/>
                          <a:ea typeface="MiSans"/>
                        </a:rPr>
                        <a:t>✓ Completed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E8EDF3"/>
                    </a:solidFill>
                  </a:tcPr>
                </a:tc>
              </a:tr>
            </a:tbl>
          </a:graphicData>
        </a:graphic>
      </p:graphicFrame>
      <p:sp>
        <p:nvSpPr>
          <p:cNvPr id="10" name="dsl:page-num|s=$caption"/>
          <p:cNvSpPr txBox="1"/>
          <p:nvPr/>
        </p:nvSpPr>
        <p:spPr>
          <a:xfrm>
            <a:off x="11239500" y="6572250"/>
            <a:ext cx="5715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B6B82"/>
                </a:solidFill>
                <a:latin typeface="Arial"/>
                <a:ea typeface="MiSans"/>
              </a:rPr>
              <a:t>15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dsl:bg-img" descr="C:\Users\Lenovo\Documents\kimi\workspace\ai_reality_bridge\images\display-options.png"/>
          <p:cNvPicPr>
            <a:picLocks noChangeAspect="1"/>
          </p:cNvPicPr>
          <p:nvPr/>
        </p:nvPicPr>
        <p:blipFill>
          <a:blip r:embed="rId2"/>
          <a:srcRect l="2578" r="25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3" name="dsl:mask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B2A4A">
                  <a:alpha val="0"/>
                </a:srgbClr>
              </a:gs>
              <a:gs pos="40000">
                <a:srgbClr val="1B2A4A">
                  <a:alpha val="50196"/>
                </a:srgbClr>
              </a:gs>
              <a:gs pos="100000">
                <a:srgbClr val="1B2A4A">
                  <a:alpha val="90196"/>
                </a:srgbClr>
              </a:gs>
            </a:gsLst>
            <a:lin scaled="0" ang="5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thank-title"/>
          <p:cNvSpPr txBox="1"/>
          <p:nvPr/>
        </p:nvSpPr>
        <p:spPr>
          <a:xfrm>
            <a:off x="952500" y="1905000"/>
            <a:ext cx="10287000" cy="571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3600" noProof="1">
                <a:solidFill>
                  <a:srgbClr val="FFFFFF"/>
                </a:solidFill>
                <a:latin typeface="Arial"/>
                <a:ea typeface="MiSans"/>
              </a:rPr>
              <a:t>Thank You / Thank You For Listening</a:t>
            </a:r>
          </a:p>
        </p:txBody>
      </p:sp>
      <p:sp>
        <p:nvSpPr>
          <p:cNvPr id="5" name="dsl:accent-line"/>
          <p:cNvSpPr/>
          <p:nvPr/>
        </p:nvSpPr>
        <p:spPr>
          <a:xfrm>
            <a:off x="5143500" y="2667000"/>
            <a:ext cx="1905000" cy="28575"/>
          </a:xfrm>
          <a:prstGeom prst="rect">
            <a:avLst/>
          </a:prstGeom>
          <a:solidFill>
            <a:srgbClr val="D49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sl:takeaway"/>
          <p:cNvSpPr txBox="1"/>
          <p:nvPr/>
        </p:nvSpPr>
        <p:spPr>
          <a:xfrm>
            <a:off x="952500" y="2952750"/>
            <a:ext cx="10287000" cy="12382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60000"/>
              </a:lnSpc>
            </a:pPr>
            <a:r>
              <a:rPr sz="1500" noProof="1">
                <a:solidFill>
                  <a:srgbClr val="FFFFFF">
                    <a:alpha val="80000"/>
                  </a:srgbClr>
                </a:solidFill>
                <a:latin typeface="Arial"/>
                <a:ea typeface="MiSans"/>
              </a:rPr>
              <a:t>We built a closed-loop hardware-software-AI system that perceives, understands, and feeds back through multiple physical channels.</a:t>
            </a:r>
          </a:p>
          <a:p>
            <a:pPr algn="ctr">
              <a:lnSpc>
                <a:spcPct val="160000"/>
              </a:lnSpc>
            </a:pPr>
            <a:r>
              <a:rPr sz="1500" noProof="1">
                <a:solidFill>
                  <a:srgbClr val="FFFFFF">
                    <a:alpha val="80000"/>
                  </a:srgbClr>
                </a:solidFill>
                <a:latin typeface="Arial"/>
                <a:ea typeface="MiSans"/>
              </a:rPr>
              <a:t>We built a hardware-software-AI closed-loop system: perceiving the environment, understanding content, and feeding back through multiple physical channels.</a:t>
            </a:r>
          </a:p>
        </p:txBody>
      </p:sp>
      <p:sp>
        <p:nvSpPr>
          <p:cNvPr id="7" name="dsl:future-text"/>
          <p:cNvSpPr txBox="1"/>
          <p:nvPr/>
        </p:nvSpPr>
        <p:spPr>
          <a:xfrm>
            <a:off x="952500" y="4191000"/>
            <a:ext cx="10287000" cy="1143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60000"/>
              </a:lnSpc>
            </a:pPr>
            <a:r>
              <a:rPr sz="1200" noProof="1">
                <a:solidFill>
                  <a:srgbClr val="FFFFFF">
                    <a:alpha val="60000"/>
                  </a:srgbClr>
                </a:solidFill>
                <a:latin typeface="Arial"/>
                <a:ea typeface="MiSans"/>
              </a:rPr>
              <a:t>Future: Ditoo pixel screen · OCR enhancement · Packaged installer · Continuous conversation</a:t>
            </a:r>
          </a:p>
          <a:p>
            <a:pPr algn="ctr">
              <a:lnSpc>
                <a:spcPct val="160000"/>
              </a:lnSpc>
            </a:pPr>
            <a:r>
              <a:rPr sz="1200" noProof="1">
                <a:solidFill>
                  <a:srgbClr val="FFFFFF">
                    <a:alpha val="60000"/>
                  </a:srgbClr>
                </a:solidFill>
                <a:latin typeface="Arial"/>
                <a:ea typeface="MiSans"/>
              </a:rPr>
              <a:t>Outlook: Ditoo Pixel Screen · OCR Text Recognition Enhancement · Packaged Installer · Continuous Conversation Support</a:t>
            </a:r>
          </a:p>
        </p:txBody>
      </p:sp>
      <p:sp>
        <p:nvSpPr>
          <p:cNvPr id="8" name="dsl:team-info"/>
          <p:cNvSpPr txBox="1"/>
          <p:nvPr/>
        </p:nvSpPr>
        <p:spPr>
          <a:xfrm>
            <a:off x="952500" y="5524500"/>
            <a:ext cx="10287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050" noProof="1">
                <a:solidFill>
                  <a:srgbClr val="FFFFFF">
                    <a:alpha val="40000"/>
                  </a:srgbClr>
                </a:solidFill>
                <a:latin typeface="Arial"/>
                <a:ea typeface="MiSans"/>
              </a:rPr>
              <a:t>Group 5 | C++ Programming | 2025.06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DslMetadata>
  <Colors>
    <Color name="primary" value="#1B2A4A"/>
    <Color name="secondary" value="#5B6B82"/>
    <Color name="accent" value="#D4943A"/>
    <Color name="background" value="#F4F5F7"/>
    <Color name="text" value="#1F2937"/>
    <Color name="light" value="#E8EDF3"/>
    <Color name="white" value="#FFFFFF"/>
    <Color name="darkbg" value="#1B2A4A"/>
  </Colors>
  <TextStyles>
    <TextStyle name="hero" font_size="40.0" color="$white" font_family="Arial, MiSans" line_height="1.2"/>
    <TextStyle name="title" font_size="28.0" color="$primary" font_family="Arial, MiSans" line_height="1.3"/>
    <TextStyle name="subtitle" font_size="20.0" color="$secondary" font_family="Arial, MiSans" line_height="1.4"/>
    <TextStyle name="body" font_size="18.0" color="$text" font_family="Arial, MiSans" line_height="1.6"/>
    <TextStyle name="caption" font_size="14.0" color="$secondary" font_family="Arial, MiSans" line_height="1.4"/>
    <TextStyle name="nav" font_size="14.0" color="$white" font_family="Arial, MiSans" line_height="1.2"/>
    <TextStyle name="accent" font_size="22.0" color="$accent" font_family="Arial, MiSans" line_height="1.3"/>
  </TextStyles>
  <TableStyles>
    <TableStyle name="default" fontSize="16.0" fontFamily="Arial, MiSans" headerFill="$primary" headerColor="$white" headerBold="true" bodyFill="$white,$light" bodyColor="$text" firstColumnBold="true">
      <Border style="solid" width="1.0" color="#D1D5DB"/>
    </TableStyle>
  </TableStyles>
</DslMetadata>
</file>

<file path=customXml/itemProps1.xml><?xml version="1.0" encoding="utf-8"?>
<ns0:datastoreItem xmlns:ns0="http://schemas.openxmlformats.org/officeDocument/2006/customXml" ns0:itemID="{58D75CD0-4AB6-4EC7-B138-8F0A7E0C3D48}">
  <ns0:schemaRefs/>
</ns0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